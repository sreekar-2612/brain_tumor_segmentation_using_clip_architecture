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6B3C"/>
                </a:solidFill>
                <a:latin typeface="Arial"/>
              </a:defRPr>
            </a:pPr>
            <a:r>
              <a:rPr sz="1200" b="0" i="0" u="none" strike="noStrike">
                <a:solidFill>
                  <a:srgbClr val="1A6B3C"/>
                </a:solidFill>
                <a:latin typeface="Arial"/>
              </a:rPr>
              <a:t>Training Loss Curves</a:t>
            </a:r>
          </a:p>
        </c:rich>
      </c:tx>
      <c:layout/>
      <c:overlay val="0"/>
    </c:title>
    <c:autoTitleDeleted val="0"/>
    <c:plotArea>
      <c:layout/>
      <c:lineChart>
        <c:varyColors val="0"/>
        <c:ser>
          <c:idx val="0"/>
          <c:order val="0"/>
          <c:tx>
            <c:strRef>
              <c:f>Sheet1!$B$1</c:f>
              <c:strCache>
                <c:ptCount val="1"/>
                <c:pt idx="0">
                  <c:v>Total Loss</c:v>
                </c:pt>
              </c:strCache>
            </c:strRef>
          </c:tx>
          <c:spPr>
            <a:solidFill>
              <a:srgbClr val="1A6B3C"/>
            </a:solidFill>
            <a:ln w="25400" cap="flat">
              <a:solidFill>
                <a:srgbClr val="1A6B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6B3C"/>
              </a:solidFill>
              <a:ln w="9525" cap="flat">
                <a:solidFill>
                  <a:srgbClr val="1A6B3C"/>
                </a:solidFill>
                <a:prstDash val="solid"/>
                <a:round/>
              </a:ln>
              <a:effectLst/>
            </c:spPr>
          </c:marker>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3.4</c:v>
                </c:pt>
                <c:pt idx="1">
                  <c:v>2.8</c:v>
                </c:pt>
                <c:pt idx="2">
                  <c:v>1.6</c:v>
                </c:pt>
                <c:pt idx="3">
                  <c:v>1.3</c:v>
                </c:pt>
                <c:pt idx="4">
                  <c:v>1.1</c:v>
                </c:pt>
                <c:pt idx="5">
                  <c:v>0.9</c:v>
                </c:pt>
                <c:pt idx="6">
                  <c:v>0.75</c:v>
                </c:pt>
                <c:pt idx="7">
                  <c:v>0.65</c:v>
                </c:pt>
                <c:pt idx="8">
                  <c:v>0.55</c:v>
                </c:pt>
                <c:pt idx="9">
                  <c:v>0.5</c:v>
                </c:pt>
              </c:numCache>
            </c:numRef>
          </c:val>
          <c:smooth val="1"/>
        </c:ser>
        <c:ser>
          <c:idx val="1"/>
          <c:order val="1"/>
          <c:tx>
            <c:strRef>
              <c:f>Sheet1!$C$1</c:f>
              <c:strCache>
                <c:ptCount val="1"/>
                <c:pt idx="0">
                  <c:v>Seg Loss</c:v>
                </c:pt>
              </c:strCache>
            </c:strRef>
          </c:tx>
          <c:spPr>
            <a:solidFill>
              <a:srgbClr val="2E8B57"/>
            </a:solidFill>
            <a:ln w="25400" cap="flat">
              <a:solidFill>
                <a:srgbClr val="2E8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57"/>
              </a:solidFill>
              <a:ln w="9525" cap="flat">
                <a:solidFill>
                  <a:srgbClr val="2E8B57"/>
                </a:solidFill>
                <a:prstDash val="solid"/>
                <a:round/>
              </a:ln>
              <a:effectLst/>
            </c:spPr>
          </c:marker>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Sheet1!$C$2:$C$11</c:f>
              <c:numCache>
                <c:formatCode>General</c:formatCode>
                <c:ptCount val="10"/>
                <c:pt idx="0">
                  <c:v>0.65</c:v>
                </c:pt>
                <c:pt idx="1">
                  <c:v>0.55</c:v>
                </c:pt>
                <c:pt idx="2">
                  <c:v>0.38</c:v>
                </c:pt>
                <c:pt idx="3">
                  <c:v>0.28</c:v>
                </c:pt>
                <c:pt idx="4">
                  <c:v>0.22</c:v>
                </c:pt>
                <c:pt idx="5">
                  <c:v>0.18</c:v>
                </c:pt>
                <c:pt idx="6">
                  <c:v>0.14</c:v>
                </c:pt>
                <c:pt idx="7">
                  <c:v>0.11</c:v>
                </c:pt>
                <c:pt idx="8">
                  <c:v>0.09</c:v>
                </c:pt>
                <c:pt idx="9">
                  <c:v>0.08</c:v>
                </c:pt>
              </c:numCache>
            </c:numRef>
          </c:val>
          <c:smooth val="1"/>
        </c:ser>
        <c:ser>
          <c:idx val="2"/>
          <c:order val="2"/>
          <c:tx>
            <c:strRef>
              <c:f>Sheet1!$D$1</c:f>
              <c:strCache>
                <c:ptCount val="1"/>
                <c:pt idx="0">
                  <c:v>Gen Loss</c:v>
                </c:pt>
              </c:strCache>
            </c:strRef>
          </c:tx>
          <c:spPr>
            <a:solidFill>
              <a:srgbClr val="4CAF50"/>
            </a:solidFill>
            <a:ln w="25400" cap="flat">
              <a:solidFill>
                <a:srgbClr val="4CAF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CAF50"/>
              </a:solidFill>
              <a:ln w="9525" cap="flat">
                <a:solidFill>
                  <a:srgbClr val="4CAF50"/>
                </a:solidFill>
                <a:prstDash val="solid"/>
                <a:round/>
              </a:ln>
              <a:effectLst/>
            </c:spPr>
          </c:marker>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Sheet1!$D$2:$D$11</c:f>
              <c:numCache>
                <c:formatCode>General</c:formatCode>
                <c:ptCount val="10"/>
                <c:pt idx="0">
                  <c:v>5.4</c:v>
                </c:pt>
                <c:pt idx="1">
                  <c:v>4.5</c:v>
                </c:pt>
                <c:pt idx="2">
                  <c:v>3</c:v>
                </c:pt>
                <c:pt idx="3">
                  <c:v>2.4</c:v>
                </c:pt>
                <c:pt idx="4">
                  <c:v>2</c:v>
                </c:pt>
                <c:pt idx="5">
                  <c:v>1.65</c:v>
                </c:pt>
                <c:pt idx="6">
                  <c:v>1.4</c:v>
                </c:pt>
                <c:pt idx="7">
                  <c:v>1.2</c:v>
                </c:pt>
                <c:pt idx="8">
                  <c:v>1</c:v>
                </c:pt>
                <c:pt idx="9">
                  <c:v>0.9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EAF7E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6B3C"/>
                </a:solidFill>
                <a:latin typeface="Arial"/>
              </a:defRPr>
            </a:pPr>
            <a:r>
              <a:rPr sz="1200" b="0" i="0" u="none" strike="noStrike">
                <a:solidFill>
                  <a:srgbClr val="1A6B3C"/>
                </a:solidFill>
                <a:latin typeface="Arial"/>
              </a:rPr>
              <a:t>Validation Dice</a:t>
            </a:r>
          </a:p>
        </c:rich>
      </c:tx>
      <c:layout/>
      <c:overlay val="0"/>
    </c:title>
    <c:autoTitleDeleted val="0"/>
    <c:plotArea>
      <c:layout/>
      <c:lineChart>
        <c:varyColors val="0"/>
        <c:ser>
          <c:idx val="0"/>
          <c:order val="0"/>
          <c:tx>
            <c:strRef>
              <c:f>Sheet1!$B$1</c:f>
              <c:strCache>
                <c:ptCount val="1"/>
                <c:pt idx="0">
                  <c:v>Validation Dice</c:v>
                </c:pt>
              </c:strCache>
            </c:strRef>
          </c:tx>
          <c:spPr>
            <a:solidFill>
              <a:srgbClr val="4CAF50"/>
            </a:solidFill>
            <a:ln w="25400" cap="flat">
              <a:solidFill>
                <a:srgbClr val="4CAF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CAF50"/>
              </a:solidFill>
              <a:ln w="9525" cap="flat">
                <a:solidFill>
                  <a:srgbClr val="4CAF50"/>
                </a:solidFill>
                <a:prstDash val="solid"/>
                <a:round/>
              </a:ln>
              <a:effectLst/>
            </c:spPr>
          </c:marker>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0.9998</c:v>
                </c:pt>
                <c:pt idx="1">
                  <c:v>0.9992</c:v>
                </c:pt>
                <c:pt idx="2">
                  <c:v>0.9996</c:v>
                </c:pt>
                <c:pt idx="3">
                  <c:v>0.9998</c:v>
                </c:pt>
                <c:pt idx="4">
                  <c:v>0.9999</c:v>
                </c:pt>
                <c:pt idx="5">
                  <c:v>0.9999</c:v>
                </c:pt>
                <c:pt idx="6">
                  <c:v>0.9999</c:v>
                </c:pt>
                <c:pt idx="7">
                  <c:v>1</c:v>
                </c:pt>
                <c:pt idx="8">
                  <c:v>1</c:v>
                </c:pt>
                <c:pt idx="9">
                  <c:v>0.9999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1"/>
          <c:min val="0.999"/>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AF7E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2E8B57"/>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1A6B3C"/>
              </a:solidFill>
              <a:effectLst/>
            </c:spPr>
          </c:dPt>
          <c:dPt>
            <c:idx val="2"/>
            <c:invertIfNegative val="0"/>
            <c:bubble3D val="0"/>
            <c:spPr>
              <a:solidFill>
                <a:srgbClr val="4CAF50"/>
              </a:solidFill>
              <a:effectLst/>
            </c:spPr>
          </c:dPt>
          <c:cat>
            <c:multiLvlStrRef>
              <c:f>Sheet1!$A$2:$A$4</c:f>
              <c:multiLvlStrCache>
                <c:ptCount val="3"/>
                <c:lvl>
                  <c:pt idx="0">
                    <c:v>ROUGE-1</c:v>
                  </c:pt>
                  <c:pt idx="1">
                    <c:v>ROUGE-L</c:v>
                  </c:pt>
                  <c:pt idx="2">
                    <c:v>BLEU</c:v>
                  </c:pt>
                </c:lvl>
              </c:multiLvlStrCache>
            </c:multiLvlStrRef>
          </c:cat>
          <c:val>
            <c:numRef>
              <c:f>Sheet1!$B$2:$B$4</c:f>
              <c:numCache>
                <c:formatCode>General</c:formatCode>
                <c:ptCount val="3"/>
                <c:pt idx="0">
                  <c:v>0.5219</c:v>
                </c:pt>
                <c:pt idx="1">
                  <c:v>0.4245</c:v>
                </c:pt>
                <c:pt idx="2">
                  <c:v>0.1394</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AF7E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6B3C"/>
        </a:solidFill>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2E8B57"/>
          </a:solidFill>
          <a:ln w="12700">
            <a:solidFill>
              <a:srgbClr val="2E8B57"/>
            </a:solidFill>
            <a:prstDash val="solid"/>
          </a:ln>
        </p:spPr>
      </p:sp>
      <p:sp>
        <p:nvSpPr>
          <p:cNvPr id="3" name="Shape 1"/>
          <p:cNvSpPr/>
          <p:nvPr/>
        </p:nvSpPr>
        <p:spPr>
          <a:xfrm>
            <a:off x="-365760" y="-365760"/>
            <a:ext cx="2286000" cy="2286000"/>
          </a:xfrm>
          <a:prstGeom prst="ellipse">
            <a:avLst/>
          </a:prstGeom>
          <a:solidFill>
            <a:srgbClr val="2E7D32">
              <a:alpha val="40000"/>
            </a:srgbClr>
          </a:solidFill>
          <a:ln w="12700">
            <a:solidFill>
              <a:srgbClr val="2E7D32"/>
            </a:solidFill>
            <a:prstDash val="solid"/>
          </a:ln>
        </p:spPr>
      </p:sp>
      <p:sp>
        <p:nvSpPr>
          <p:cNvPr id="4" name="Shape 2"/>
          <p:cNvSpPr/>
          <p:nvPr/>
        </p:nvSpPr>
        <p:spPr>
          <a:xfrm>
            <a:off x="7498080" y="2743200"/>
            <a:ext cx="2011680" cy="2011680"/>
          </a:xfrm>
          <a:prstGeom prst="ellipse">
            <a:avLst/>
          </a:prstGeom>
          <a:solidFill>
            <a:srgbClr val="388E3C">
              <a:alpha val="40000"/>
            </a:srgbClr>
          </a:solidFill>
          <a:ln w="12700">
            <a:solidFill>
              <a:srgbClr val="388E3C"/>
            </a:solidFill>
            <a:prstDash val="solid"/>
          </a:ln>
        </p:spPr>
      </p:sp>
      <p:sp>
        <p:nvSpPr>
          <p:cNvPr id="5" name="Text 3"/>
          <p:cNvSpPr/>
          <p:nvPr/>
        </p:nvSpPr>
        <p:spPr>
          <a:xfrm>
            <a:off x="457200" y="502920"/>
            <a:ext cx="8229600" cy="100584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VLM-UNet</a:t>
            </a:r>
            <a:endParaRPr lang="en-US" sz="5200" dirty="0"/>
          </a:p>
        </p:txBody>
      </p:sp>
      <p:sp>
        <p:nvSpPr>
          <p:cNvPr id="6" name="Text 4"/>
          <p:cNvSpPr/>
          <p:nvPr/>
        </p:nvSpPr>
        <p:spPr>
          <a:xfrm>
            <a:off x="457200" y="1463040"/>
            <a:ext cx="8229600" cy="1005840"/>
          </a:xfrm>
          <a:prstGeom prst="rect">
            <a:avLst/>
          </a:prstGeom>
          <a:noFill/>
          <a:ln/>
        </p:spPr>
        <p:txBody>
          <a:bodyPr wrap="square" rtlCol="0" anchor="ctr"/>
          <a:lstStyle/>
          <a:p>
            <a:pPr algn="ctr" indent="0" marL="0">
              <a:buNone/>
            </a:pPr>
            <a:r>
              <a:rPr lang="en-US" sz="2200" dirty="0">
                <a:solidFill>
                  <a:srgbClr val="A8D5B5"/>
                </a:solidFill>
                <a:latin typeface="Calibri" pitchFamily="34" charset="0"/>
                <a:ea typeface="Calibri" pitchFamily="34" charset="-122"/>
                <a:cs typeface="Calibri" pitchFamily="34" charset="-120"/>
              </a:rPr>
              <a:t>Brain Tumor Segmentation &amp;</a:t>
            </a:r>
            <a:endParaRPr lang="en-US" sz="2200" dirty="0"/>
          </a:p>
          <a:p>
            <a:pPr algn="ctr" indent="0" marL="0">
              <a:buNone/>
            </a:pPr>
            <a:r>
              <a:rPr lang="en-US" sz="2200" dirty="0">
                <a:solidFill>
                  <a:srgbClr val="A8D5B5"/>
                </a:solidFill>
                <a:latin typeface="Calibri" pitchFamily="34" charset="0"/>
                <a:ea typeface="Calibri" pitchFamily="34" charset="-122"/>
                <a:cs typeface="Calibri" pitchFamily="34" charset="-120"/>
              </a:rPr>
              <a:t>Radiology Report Synthesis</a:t>
            </a:r>
            <a:endParaRPr lang="en-US" sz="2200" dirty="0"/>
          </a:p>
        </p:txBody>
      </p:sp>
      <p:sp>
        <p:nvSpPr>
          <p:cNvPr id="7" name="Text 5"/>
          <p:cNvSpPr/>
          <p:nvPr/>
        </p:nvSpPr>
        <p:spPr>
          <a:xfrm>
            <a:off x="457200" y="2423160"/>
            <a:ext cx="8229600" cy="502920"/>
          </a:xfrm>
          <a:prstGeom prst="rect">
            <a:avLst/>
          </a:prstGeom>
          <a:noFill/>
          <a:ln/>
        </p:spPr>
        <p:txBody>
          <a:bodyPr wrap="square" rtlCol="0" anchor="ctr"/>
          <a:lstStyle/>
          <a:p>
            <a:pPr algn="ctr" indent="0" marL="0">
              <a:buNone/>
            </a:pPr>
            <a:r>
              <a:rPr lang="en-US" sz="1300" i="1" dirty="0">
                <a:solidFill>
                  <a:srgbClr val="A8D5B5"/>
                </a:solidFill>
                <a:latin typeface="Calibri" pitchFamily="34" charset="0"/>
                <a:ea typeface="Calibri" pitchFamily="34" charset="-122"/>
                <a:cs typeface="Calibri" pitchFamily="34" charset="-120"/>
              </a:rPr>
              <a:t>A Multimodal Deep Learning Framework bridging Clinical Linguistics and MRI Imaging</a:t>
            </a:r>
            <a:endParaRPr lang="en-US" sz="1300" dirty="0"/>
          </a:p>
        </p:txBody>
      </p:sp>
      <p:sp>
        <p:nvSpPr>
          <p:cNvPr id="8" name="Text 6"/>
          <p:cNvSpPr/>
          <p:nvPr/>
        </p:nvSpPr>
        <p:spPr>
          <a:xfrm>
            <a:off x="457200" y="3931920"/>
            <a:ext cx="822960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CS23I1034 – T. Sreekar          |          CS23I1001 – C. Sai Nithin</a:t>
            </a:r>
            <a:endParaRPr lang="en-US" sz="1400" dirty="0"/>
          </a:p>
        </p:txBody>
      </p:sp>
      <p:sp>
        <p:nvSpPr>
          <p:cNvPr id="9" name="Text 7"/>
          <p:cNvSpPr/>
          <p:nvPr/>
        </p:nvSpPr>
        <p:spPr>
          <a:xfrm>
            <a:off x="457200" y="4462272"/>
            <a:ext cx="8229600" cy="347472"/>
          </a:xfrm>
          <a:prstGeom prst="rect">
            <a:avLst/>
          </a:prstGeom>
          <a:noFill/>
          <a:ln/>
        </p:spPr>
        <p:txBody>
          <a:bodyPr wrap="square" rtlCol="0" anchor="ctr"/>
          <a:lstStyle/>
          <a:p>
            <a:pPr algn="ctr" indent="0" marL="0">
              <a:buNone/>
            </a:pPr>
            <a:r>
              <a:rPr lang="en-US" sz="1100" dirty="0">
                <a:solidFill>
                  <a:srgbClr val="A8D5B5"/>
                </a:solidFill>
                <a:latin typeface="Calibri" pitchFamily="34" charset="0"/>
                <a:ea typeface="Calibri" pitchFamily="34" charset="-122"/>
                <a:cs typeface="Calibri" pitchFamily="34" charset="-120"/>
              </a:rPr>
              <a:t>BraTS 2020  ·  152.4M Parameters  ·  Dice: 0.9991  ·  ROUGE-1: 0.5219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Executive Summary</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68680"/>
            <a:ext cx="42062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438912" y="978408"/>
            <a:ext cx="3840480" cy="384048"/>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Dual-Task AI System</a:t>
            </a:r>
            <a:endParaRPr lang="en-US" sz="1300" dirty="0"/>
          </a:p>
        </p:txBody>
      </p:sp>
      <p:sp>
        <p:nvSpPr>
          <p:cNvPr id="6" name="Text 4"/>
          <p:cNvSpPr/>
          <p:nvPr/>
        </p:nvSpPr>
        <p:spPr>
          <a:xfrm>
            <a:off x="438912" y="1344168"/>
            <a:ext cx="3858768" cy="109728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Simultaneously segments brain tumors from FLAIR MRI and generates radiology reports — tasks traditionally done sequentially by specialists.</a:t>
            </a:r>
            <a:endParaRPr lang="en-US" sz="1100" dirty="0"/>
          </a:p>
        </p:txBody>
      </p:sp>
      <p:sp>
        <p:nvSpPr>
          <p:cNvPr id="7" name="Shape 5"/>
          <p:cNvSpPr/>
          <p:nvPr/>
        </p:nvSpPr>
        <p:spPr>
          <a:xfrm>
            <a:off x="4709160" y="868680"/>
            <a:ext cx="42062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8" name="Text 6"/>
          <p:cNvSpPr/>
          <p:nvPr/>
        </p:nvSpPr>
        <p:spPr>
          <a:xfrm>
            <a:off x="4873752" y="978408"/>
            <a:ext cx="3840480" cy="384048"/>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Language-Guided Segmentation</a:t>
            </a:r>
            <a:endParaRPr lang="en-US" sz="1300" dirty="0"/>
          </a:p>
        </p:txBody>
      </p:sp>
      <p:sp>
        <p:nvSpPr>
          <p:cNvPr id="9" name="Text 7"/>
          <p:cNvSpPr/>
          <p:nvPr/>
        </p:nvSpPr>
        <p:spPr>
          <a:xfrm>
            <a:off x="4873752" y="1344168"/>
            <a:ext cx="3858768" cy="109728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Multi-Head Cross-Attention Bottleneck allows clinical text to act as a spatial prior, guiding the model's attention to clinically significant regions.</a:t>
            </a:r>
            <a:endParaRPr lang="en-US" sz="1100" dirty="0"/>
          </a:p>
        </p:txBody>
      </p:sp>
      <p:sp>
        <p:nvSpPr>
          <p:cNvPr id="10" name="Shape 8"/>
          <p:cNvSpPr/>
          <p:nvPr/>
        </p:nvSpPr>
        <p:spPr>
          <a:xfrm>
            <a:off x="274320" y="2743200"/>
            <a:ext cx="42062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1" name="Text 9"/>
          <p:cNvSpPr/>
          <p:nvPr/>
        </p:nvSpPr>
        <p:spPr>
          <a:xfrm>
            <a:off x="438912" y="2852928"/>
            <a:ext cx="3840480" cy="384048"/>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State-of-the-Art Results</a:t>
            </a:r>
            <a:endParaRPr lang="en-US" sz="1300" dirty="0"/>
          </a:p>
        </p:txBody>
      </p:sp>
      <p:sp>
        <p:nvSpPr>
          <p:cNvPr id="12" name="Text 10"/>
          <p:cNvSpPr/>
          <p:nvPr/>
        </p:nvSpPr>
        <p:spPr>
          <a:xfrm>
            <a:off x="438912" y="3218688"/>
            <a:ext cx="3858768" cy="109728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Dice score of 0.9991 — a 5–7% improvement over unimodal UNet. ROUGE-1: 0.5219, demonstrating competent report generation.</a:t>
            </a:r>
            <a:endParaRPr lang="en-US" sz="1100" dirty="0"/>
          </a:p>
        </p:txBody>
      </p:sp>
      <p:sp>
        <p:nvSpPr>
          <p:cNvPr id="13" name="Shape 11"/>
          <p:cNvSpPr/>
          <p:nvPr/>
        </p:nvSpPr>
        <p:spPr>
          <a:xfrm>
            <a:off x="4709160" y="2743200"/>
            <a:ext cx="42062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4" name="Text 12"/>
          <p:cNvSpPr/>
          <p:nvPr/>
        </p:nvSpPr>
        <p:spPr>
          <a:xfrm>
            <a:off x="4873752" y="2852928"/>
            <a:ext cx="3840480" cy="384048"/>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Ablation-Validated</a:t>
            </a:r>
            <a:endParaRPr lang="en-US" sz="1300" dirty="0"/>
          </a:p>
        </p:txBody>
      </p:sp>
      <p:sp>
        <p:nvSpPr>
          <p:cNvPr id="15" name="Text 13"/>
          <p:cNvSpPr/>
          <p:nvPr/>
        </p:nvSpPr>
        <p:spPr>
          <a:xfrm>
            <a:off x="4873752" y="3218688"/>
            <a:ext cx="3858768" cy="109728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Removing the language branch reduces Dice by 5–7%, proving text context is not decorative — it is architecturally critical.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Research Motivation &amp; Core Problem</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22960"/>
            <a:ext cx="4114800" cy="3977640"/>
          </a:xfrm>
          <a:prstGeom prst="roundRect">
            <a:avLst>
              <a:gd name="adj" fmla="val 2299"/>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457200" y="868680"/>
            <a:ext cx="3749040" cy="365760"/>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Motivation</a:t>
            </a:r>
            <a:endParaRPr lang="en-US" sz="1300" dirty="0"/>
          </a:p>
        </p:txBody>
      </p:sp>
      <p:sp>
        <p:nvSpPr>
          <p:cNvPr id="6" name="Text 4"/>
          <p:cNvSpPr/>
          <p:nvPr/>
        </p:nvSpPr>
        <p:spPr>
          <a:xfrm>
            <a:off x="457200" y="1280160"/>
            <a:ext cx="3749040" cy="3291840"/>
          </a:xfrm>
          <a:prstGeom prst="rect">
            <a:avLst/>
          </a:prstGeom>
          <a:noFill/>
          <a:ln/>
        </p:spPr>
        <p:txBody>
          <a:bodyPr wrap="square" rtlCol="0" anchor="t"/>
          <a:lstStyle/>
          <a:p>
            <a:pPr marL="342900" indent="-3429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Brain tumor segmentation is critical for surgical planning, radiotherapy, and monitoring disease progression</a:t>
            </a:r>
            <a:endParaRPr lang="en-US" sz="1150" dirty="0"/>
          </a:p>
          <a:p>
            <a:pPr marL="342900" indent="-3429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Traditional UNet models are unimodal — they lack the contextual understanding radiologists use</a:t>
            </a:r>
            <a:endParaRPr lang="en-US" sz="1150" dirty="0"/>
          </a:p>
          <a:p>
            <a:pPr marL="342900" indent="-3429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Clinical reporting is time-intensive and requires expert knowledge to translate visual findings into text</a:t>
            </a:r>
            <a:endParaRPr lang="en-US" sz="1150" dirty="0"/>
          </a:p>
          <a:p>
            <a:pPr marL="342900" indent="-3429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No existing framework jointly performs both tasks by exploiting the semantic relationship between them</a:t>
            </a:r>
            <a:endParaRPr lang="en-US" sz="1150" dirty="0"/>
          </a:p>
        </p:txBody>
      </p:sp>
      <p:sp>
        <p:nvSpPr>
          <p:cNvPr id="7" name="Shape 5"/>
          <p:cNvSpPr/>
          <p:nvPr/>
        </p:nvSpPr>
        <p:spPr>
          <a:xfrm>
            <a:off x="4663440" y="822960"/>
            <a:ext cx="4114800" cy="3977640"/>
          </a:xfrm>
          <a:prstGeom prst="roundRect">
            <a:avLst>
              <a:gd name="adj" fmla="val 2299"/>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8" name="Text 6"/>
          <p:cNvSpPr/>
          <p:nvPr/>
        </p:nvSpPr>
        <p:spPr>
          <a:xfrm>
            <a:off x="4846320" y="868680"/>
            <a:ext cx="3749040" cy="365760"/>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Core Research Question</a:t>
            </a:r>
            <a:endParaRPr lang="en-US" sz="1300" dirty="0"/>
          </a:p>
        </p:txBody>
      </p:sp>
      <p:sp>
        <p:nvSpPr>
          <p:cNvPr id="9" name="Text 7"/>
          <p:cNvSpPr/>
          <p:nvPr/>
        </p:nvSpPr>
        <p:spPr>
          <a:xfrm>
            <a:off x="4846320" y="1298448"/>
            <a:ext cx="3749040" cy="365760"/>
          </a:xfrm>
          <a:prstGeom prst="rect">
            <a:avLst/>
          </a:prstGeom>
          <a:noFill/>
          <a:ln/>
        </p:spPr>
        <p:txBody>
          <a:bodyPr wrap="square" rtlCol="0" anchor="ctr"/>
          <a:lstStyle/>
          <a:p>
            <a:pPr indent="0" marL="0">
              <a:buNone/>
            </a:pPr>
            <a:r>
              <a:rPr lang="en-US" sz="1150" dirty="0">
                <a:solidFill>
                  <a:srgbClr val="1C1C1C"/>
                </a:solidFill>
                <a:latin typeface="Calibri" pitchFamily="34" charset="0"/>
                <a:ea typeface="Calibri" pitchFamily="34" charset="-122"/>
                <a:cs typeface="Calibri" pitchFamily="34" charset="-120"/>
              </a:rPr>
              <a:t>Can a single deep learning framework simultaneously:</a:t>
            </a:r>
            <a:endParaRPr lang="en-US" sz="1150" dirty="0"/>
          </a:p>
        </p:txBody>
      </p:sp>
      <p:sp>
        <p:nvSpPr>
          <p:cNvPr id="10" name="Text 8"/>
          <p:cNvSpPr/>
          <p:nvPr/>
        </p:nvSpPr>
        <p:spPr>
          <a:xfrm>
            <a:off x="4846320" y="1691640"/>
            <a:ext cx="3749040" cy="1188720"/>
          </a:xfrm>
          <a:prstGeom prst="rect">
            <a:avLst/>
          </a:prstGeom>
          <a:noFill/>
          <a:ln/>
        </p:spPr>
        <p:txBody>
          <a:bodyPr wrap="square" rtlCol="0" anchor="ctr"/>
          <a:lstStyle/>
          <a:p>
            <a:pPr marL="342900" indent="-342900">
              <a:spcAft>
                <a:spcPts val="1000"/>
              </a:spcAft>
              <a:buSzPct val="100000"/>
              <a:buChar char="•"/>
            </a:pPr>
            <a:r>
              <a:rPr lang="en-US" sz="1150" dirty="0">
                <a:solidFill>
                  <a:srgbClr val="1C1C1C"/>
                </a:solidFill>
                <a:latin typeface="Calibri" pitchFamily="34" charset="0"/>
                <a:ea typeface="Calibri" pitchFamily="34" charset="-122"/>
                <a:cs typeface="Calibri" pitchFamily="34" charset="-120"/>
              </a:rPr>
              <a:t>(a) Segment brain tumors with greater accuracy by leveraging natural language as spatial priors?</a:t>
            </a:r>
            <a:endParaRPr lang="en-US" sz="1150" dirty="0"/>
          </a:p>
          <a:p>
            <a:pPr marL="342900" indent="-342900">
              <a:buSzPct val="100000"/>
              <a:buChar char="•"/>
            </a:pPr>
            <a:r>
              <a:rPr lang="en-US" sz="1150" dirty="0">
                <a:solidFill>
                  <a:srgbClr val="1C1C1C"/>
                </a:solidFill>
                <a:latin typeface="Calibri" pitchFamily="34" charset="0"/>
                <a:ea typeface="Calibri" pitchFamily="34" charset="-122"/>
                <a:cs typeface="Calibri" pitchFamily="34" charset="-120"/>
              </a:rPr>
              <a:t>(b) Generate clinically meaningful radiology reports from visual features alone?</a:t>
            </a:r>
            <a:endParaRPr lang="en-US" sz="1150" dirty="0"/>
          </a:p>
        </p:txBody>
      </p:sp>
      <p:sp>
        <p:nvSpPr>
          <p:cNvPr id="11" name="Text 9"/>
          <p:cNvSpPr/>
          <p:nvPr/>
        </p:nvSpPr>
        <p:spPr>
          <a:xfrm>
            <a:off x="4846320" y="3017520"/>
            <a:ext cx="3749040" cy="320040"/>
          </a:xfrm>
          <a:prstGeom prst="rect">
            <a:avLst/>
          </a:prstGeom>
          <a:noFill/>
          <a:ln/>
        </p:spPr>
        <p:txBody>
          <a:bodyPr wrap="square"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The Semantic Gap</a:t>
            </a:r>
            <a:endParaRPr lang="en-US" sz="1200" dirty="0"/>
          </a:p>
        </p:txBody>
      </p:sp>
      <p:sp>
        <p:nvSpPr>
          <p:cNvPr id="12" name="Text 10"/>
          <p:cNvSpPr/>
          <p:nvPr/>
        </p:nvSpPr>
        <p:spPr>
          <a:xfrm>
            <a:off x="4846320" y="3337560"/>
            <a:ext cx="3749040" cy="1371600"/>
          </a:xfrm>
          <a:prstGeom prst="rect">
            <a:avLst/>
          </a:prstGeom>
          <a:noFill/>
          <a:ln/>
        </p:spPr>
        <p:txBody>
          <a:bodyPr wrap="square" rtlCol="0" anchor="ctr"/>
          <a:lstStyle/>
          <a:p>
            <a:pPr marL="342900" indent="-342900">
              <a:spcAft>
                <a:spcPts val="600"/>
              </a:spcAft>
              <a:buSzPct val="100000"/>
              <a:buChar char="•"/>
            </a:pPr>
            <a:r>
              <a:rPr lang="en-US" sz="1100" dirty="0">
                <a:solidFill>
                  <a:srgbClr val="1C1C1C"/>
                </a:solidFill>
                <a:latin typeface="Calibri" pitchFamily="34" charset="0"/>
                <a:ea typeface="Calibri" pitchFamily="34" charset="-122"/>
                <a:cs typeface="Calibri" pitchFamily="34" charset="-120"/>
              </a:rPr>
              <a:t>Visual Space: High-dimensional voxel intensity arrays (deep CNN features)</a:t>
            </a:r>
            <a:endParaRPr lang="en-US" sz="1100" dirty="0"/>
          </a:p>
          <a:p>
            <a:pPr marL="342900" indent="-342900">
              <a:buSzPct val="100000"/>
              <a:buChar char="•"/>
            </a:pPr>
            <a:r>
              <a:rPr lang="en-US" sz="1100" dirty="0">
                <a:solidFill>
                  <a:srgbClr val="1C1C1C"/>
                </a:solidFill>
                <a:latin typeface="Calibri" pitchFamily="34" charset="0"/>
                <a:ea typeface="Calibri" pitchFamily="34" charset="-122"/>
                <a:cs typeface="Calibri" pitchFamily="34" charset="-120"/>
              </a:rPr>
              <a:t>Linguistic Space: Sequential token embeddings encoding concepts like 'peritumoral edema' or 'ring-enhancing lesion'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Dataset Specifications – BraTS 2020</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22960"/>
            <a:ext cx="4114800" cy="3977640"/>
          </a:xfrm>
          <a:prstGeom prst="roundRect">
            <a:avLst>
              <a:gd name="adj" fmla="val 2299"/>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457200" y="868680"/>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Visual Data</a:t>
            </a:r>
            <a:endParaRPr lang="en-US" sz="1300" dirty="0"/>
          </a:p>
        </p:txBody>
      </p:sp>
      <p:sp>
        <p:nvSpPr>
          <p:cNvPr id="6" name="Text 4"/>
          <p:cNvSpPr/>
          <p:nvPr/>
        </p:nvSpPr>
        <p:spPr>
          <a:xfrm>
            <a:off x="457200" y="1261872"/>
            <a:ext cx="3749040" cy="1554480"/>
          </a:xfrm>
          <a:prstGeom prst="rect">
            <a:avLst/>
          </a:prstGeom>
          <a:noFill/>
          <a:ln/>
        </p:spPr>
        <p:txBody>
          <a:bodyPr wrap="square" rtlCol="0" anchor="ctr"/>
          <a:lstStyle/>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Modality: FLAIR MRI (suppresses CSF, highlights tumor)</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Preprocessing: Z-Score Normalization, 224×224 spatial resize, 2D axial slice extraction</a:t>
            </a:r>
            <a:endParaRPr lang="en-US" sz="1150" dirty="0"/>
          </a:p>
          <a:p>
            <a:pPr marL="342900" indent="-342900">
              <a:buSzPct val="100000"/>
              <a:buChar char="•"/>
            </a:pPr>
            <a:r>
              <a:rPr lang="en-US" sz="1150" dirty="0">
                <a:solidFill>
                  <a:srgbClr val="1C1C1C"/>
                </a:solidFill>
                <a:latin typeface="Calibri" pitchFamily="34" charset="0"/>
                <a:ea typeface="Calibri" pitchFamily="34" charset="-122"/>
                <a:cs typeface="Calibri" pitchFamily="34" charset="-120"/>
              </a:rPr>
              <a:t>Label Binarization: Multi-class (ET, ED, NCR/NET) → single binary Whole Tumor mask</a:t>
            </a:r>
            <a:endParaRPr lang="en-US" sz="1150" dirty="0"/>
          </a:p>
        </p:txBody>
      </p:sp>
      <p:sp>
        <p:nvSpPr>
          <p:cNvPr id="7" name="Text 5"/>
          <p:cNvSpPr/>
          <p:nvPr/>
        </p:nvSpPr>
        <p:spPr>
          <a:xfrm>
            <a:off x="457200" y="2880360"/>
            <a:ext cx="3749040" cy="292608"/>
          </a:xfrm>
          <a:prstGeom prst="rect">
            <a:avLst/>
          </a:prstGeom>
          <a:noFill/>
          <a:ln/>
        </p:spPr>
        <p:txBody>
          <a:bodyPr wrap="square"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Dataset Split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3657600" cy="1463040"/>
        </p:xfrm>
        <a:graphic>
          <a:graphicData uri="http://schemas.openxmlformats.org/drawingml/2006/table">
            <a:tbl>
              <a:tblPr/>
              <a:tblGrid>
                <a:gridCol w="1371600"/>
                <a:gridCol w="1143000"/>
                <a:gridCol w="11430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2E8B5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Slices</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2E8B5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2E8B57"/>
                    </a:solidFill>
                  </a:tcPr>
                </a:tc>
              </a:tr>
              <a:tr h="292608">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Training</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206</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Validation</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dirty="0">
                          <a:solidFill>
                            <a:srgbClr val="1C1C1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C1C1C"/>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b="1" dirty="0">
                          <a:solidFill>
                            <a:srgbClr val="1C1C1C"/>
                          </a:solidFill>
                          <a:latin typeface="Calibri" pitchFamily="34" charset="0"/>
                          <a:ea typeface="Calibri" pitchFamily="34" charset="-122"/>
                          <a:cs typeface="Calibri" pitchFamily="34" charset="-120"/>
                        </a:rPr>
                        <a:t>258</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c>
                  <a:txBody>
                    <a:bodyPr/>
                    <a:lstStyle/>
                    <a:p>
                      <a:pPr indent="0" marL="0">
                        <a:buNone/>
                      </a:pPr>
                      <a:r>
                        <a:rPr lang="en-US" sz="1100" b="1" dirty="0">
                          <a:solidFill>
                            <a:srgbClr val="1C1C1C"/>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FFFFFF"/>
                    </a:solidFill>
                  </a:tcPr>
                </a:tc>
              </a:tr>
            </a:tbl>
          </a:graphicData>
        </a:graphic>
      </p:graphicFrame>
      <p:sp>
        <p:nvSpPr>
          <p:cNvPr id="9" name="Shape 6"/>
          <p:cNvSpPr/>
          <p:nvPr/>
        </p:nvSpPr>
        <p:spPr>
          <a:xfrm>
            <a:off x="4663440" y="822960"/>
            <a:ext cx="4114800" cy="3977640"/>
          </a:xfrm>
          <a:prstGeom prst="roundRect">
            <a:avLst>
              <a:gd name="adj" fmla="val 2299"/>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0" name="Text 7"/>
          <p:cNvSpPr/>
          <p:nvPr/>
        </p:nvSpPr>
        <p:spPr>
          <a:xfrm>
            <a:off x="4846320" y="868680"/>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Linguistic Data (Text BraTS 2020)</a:t>
            </a:r>
            <a:endParaRPr lang="en-US" sz="1300" dirty="0"/>
          </a:p>
        </p:txBody>
      </p:sp>
      <p:sp>
        <p:nvSpPr>
          <p:cNvPr id="11" name="Text 8"/>
          <p:cNvSpPr/>
          <p:nvPr/>
        </p:nvSpPr>
        <p:spPr>
          <a:xfrm>
            <a:off x="4846320" y="1261872"/>
            <a:ext cx="3749040" cy="1828800"/>
          </a:xfrm>
          <a:prstGeom prst="rect">
            <a:avLst/>
          </a:prstGeom>
          <a:noFill/>
          <a:ln/>
        </p:spPr>
        <p:txBody>
          <a:bodyPr wrap="square" rtlCol="0" anchor="ctr"/>
          <a:lstStyle/>
          <a:p>
            <a:pPr indent="0" marL="0">
              <a:buNone/>
            </a:pPr>
            <a:r>
              <a:rPr lang="en-US" sz="1150" dirty="0">
                <a:solidFill>
                  <a:srgbClr val="1C1C1C"/>
                </a:solidFill>
                <a:latin typeface="Calibri" pitchFamily="34" charset="0"/>
                <a:ea typeface="Calibri" pitchFamily="34" charset="-122"/>
                <a:cs typeface="Calibri" pitchFamily="34" charset="-120"/>
              </a:rPr>
              <a:t>Each MRI paired with expert-written radiology report describing:</a:t>
            </a:r>
            <a:endParaRPr lang="en-US" sz="1150" dirty="0"/>
          </a:p>
          <a:p>
            <a:pPr lvl="1" marL="685800" indent="-342900">
              <a:spcAft>
                <a:spcPts val="400"/>
              </a:spcAft>
              <a:buSzPct val="100000"/>
              <a:buChar char="•"/>
            </a:pPr>
            <a:r>
              <a:rPr lang="en-US" sz="1150" dirty="0">
                <a:solidFill>
                  <a:srgbClr val="1C1C1C"/>
                </a:solidFill>
                <a:latin typeface="Calibri" pitchFamily="34" charset="0"/>
                <a:ea typeface="Calibri" pitchFamily="34" charset="-122"/>
                <a:cs typeface="Calibri" pitchFamily="34" charset="-120"/>
              </a:rPr>
              <a:t>Location — e.g., 'Right temporal lobe involvement'</a:t>
            </a:r>
            <a:endParaRPr lang="en-US" sz="1150" dirty="0"/>
          </a:p>
          <a:p>
            <a:pPr lvl="1" marL="685800" indent="-342900">
              <a:spcAft>
                <a:spcPts val="400"/>
              </a:spcAft>
              <a:buSzPct val="100000"/>
              <a:buChar char="•"/>
            </a:pPr>
            <a:r>
              <a:rPr lang="en-US" sz="1150" dirty="0">
                <a:solidFill>
                  <a:srgbClr val="1C1C1C"/>
                </a:solidFill>
                <a:latin typeface="Calibri" pitchFamily="34" charset="0"/>
                <a:ea typeface="Calibri" pitchFamily="34" charset="-122"/>
                <a:cs typeface="Calibri" pitchFamily="34" charset="-120"/>
              </a:rPr>
              <a:t>Size — e.g., 'Approximately 3.2 cm in maximal diameter'</a:t>
            </a:r>
            <a:endParaRPr lang="en-US" sz="1150" dirty="0"/>
          </a:p>
          <a:p>
            <a:pPr lvl="1" marL="685800" indent="-342900">
              <a:spcAft>
                <a:spcPts val="400"/>
              </a:spcAft>
              <a:buSzPct val="100000"/>
              <a:buChar char="•"/>
            </a:pPr>
            <a:r>
              <a:rPr lang="en-US" sz="1150" dirty="0">
                <a:solidFill>
                  <a:srgbClr val="1C1C1C"/>
                </a:solidFill>
                <a:latin typeface="Calibri" pitchFamily="34" charset="0"/>
                <a:ea typeface="Calibri" pitchFamily="34" charset="-122"/>
                <a:cs typeface="Calibri" pitchFamily="34" charset="-120"/>
              </a:rPr>
              <a:t>Signal — e.g., 'Hyperintense on FLAIR, hypointense core'</a:t>
            </a:r>
            <a:endParaRPr lang="en-US" sz="1150" dirty="0"/>
          </a:p>
          <a:p>
            <a:pPr lvl="1" marL="685800" indent="-342900">
              <a:buSzPct val="100000"/>
              <a:buChar char="•"/>
            </a:pPr>
            <a:r>
              <a:rPr lang="en-US" sz="1150" dirty="0">
                <a:solidFill>
                  <a:srgbClr val="1C1C1C"/>
                </a:solidFill>
                <a:latin typeface="Calibri" pitchFamily="34" charset="0"/>
                <a:ea typeface="Calibri" pitchFamily="34" charset="-122"/>
                <a:cs typeface="Calibri" pitchFamily="34" charset="-120"/>
              </a:rPr>
              <a:t>Surroundings — e.g., 'Peritumoral edema into white matter'</a:t>
            </a:r>
            <a:endParaRPr lang="en-US" sz="1150" dirty="0"/>
          </a:p>
        </p:txBody>
      </p:sp>
      <p:sp>
        <p:nvSpPr>
          <p:cNvPr id="12" name="Text 9"/>
          <p:cNvSpPr/>
          <p:nvPr/>
        </p:nvSpPr>
        <p:spPr>
          <a:xfrm>
            <a:off x="4846320" y="3127248"/>
            <a:ext cx="3749040" cy="292608"/>
          </a:xfrm>
          <a:prstGeom prst="rect">
            <a:avLst/>
          </a:prstGeom>
          <a:noFill/>
          <a:ln/>
        </p:spPr>
        <p:txBody>
          <a:bodyPr wrap="square"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Tokenizer: Bio_ClinicalBERT</a:t>
            </a:r>
            <a:endParaRPr lang="en-US" sz="1200" dirty="0"/>
          </a:p>
        </p:txBody>
      </p:sp>
      <p:sp>
        <p:nvSpPr>
          <p:cNvPr id="13" name="Text 10"/>
          <p:cNvSpPr/>
          <p:nvPr/>
        </p:nvSpPr>
        <p:spPr>
          <a:xfrm>
            <a:off x="4846320" y="3456432"/>
            <a:ext cx="3749040" cy="1280160"/>
          </a:xfrm>
          <a:prstGeom prst="rect">
            <a:avLst/>
          </a:prstGeom>
          <a:noFill/>
          <a:ln/>
        </p:spPr>
        <p:txBody>
          <a:bodyPr wrap="square" rtlCol="0" anchor="ctr"/>
          <a:lstStyle/>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Pre-trained on MIMIC-III clinical notes + biomedical literature</a:t>
            </a:r>
            <a:endParaRPr lang="en-US" sz="1150" dirty="0"/>
          </a:p>
          <a:p>
            <a:pPr marL="342900" indent="-342900">
              <a:spcAft>
                <a:spcPts val="500"/>
              </a:spcAft>
              <a:buSzPct val="100000"/>
              <a:buChar char="•"/>
            </a:pPr>
            <a:r>
              <a:rPr lang="en-US" sz="1150" dirty="0">
                <a:solidFill>
                  <a:srgbClr val="1C1C1C"/>
                </a:solidFill>
                <a:latin typeface="Calibri" pitchFamily="34" charset="0"/>
                <a:ea typeface="Calibri" pitchFamily="34" charset="-122"/>
                <a:cs typeface="Calibri" pitchFamily="34" charset="-120"/>
              </a:rPr>
              <a:t>Max 128 tokens; special tokens [CLS], [SEP], [PAD]</a:t>
            </a:r>
            <a:endParaRPr lang="en-US" sz="1150" dirty="0"/>
          </a:p>
          <a:p>
            <a:pPr marL="342900" indent="-342900">
              <a:buSzPct val="100000"/>
              <a:buChar char="•"/>
            </a:pPr>
            <a:r>
              <a:rPr lang="en-US" sz="1150" dirty="0">
                <a:solidFill>
                  <a:srgbClr val="1C1C1C"/>
                </a:solidFill>
                <a:latin typeface="Calibri" pitchFamily="34" charset="0"/>
                <a:ea typeface="Calibri" pitchFamily="34" charset="-122"/>
                <a:cs typeface="Calibri" pitchFamily="34" charset="-120"/>
              </a:rPr>
              <a:t>Understands clinical terms like 'glioblastoma multiforme' natively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VLM-UNet Architecture Overview</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Text 2"/>
          <p:cNvSpPr/>
          <p:nvPr/>
        </p:nvSpPr>
        <p:spPr>
          <a:xfrm>
            <a:off x="274320" y="804672"/>
            <a:ext cx="5029200" cy="320040"/>
          </a:xfrm>
          <a:prstGeom prst="rect">
            <a:avLst/>
          </a:prstGeom>
          <a:noFill/>
          <a:ln/>
        </p:spPr>
        <p:txBody>
          <a:bodyPr wrap="square"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VISION BRANCH  (UNet Encoder)</a:t>
            </a:r>
            <a:endParaRPr lang="en-US" sz="1100" dirty="0"/>
          </a:p>
        </p:txBody>
      </p:sp>
      <p:sp>
        <p:nvSpPr>
          <p:cNvPr id="5" name="Shape 3"/>
          <p:cNvSpPr/>
          <p:nvPr/>
        </p:nvSpPr>
        <p:spPr>
          <a:xfrm>
            <a:off x="274320" y="1170432"/>
            <a:ext cx="1371600" cy="475488"/>
          </a:xfrm>
          <a:prstGeom prst="rect">
            <a:avLst/>
          </a:prstGeom>
          <a:solidFill>
            <a:srgbClr val="A8D5B5"/>
          </a:solidFill>
          <a:ln w="12700">
            <a:solidFill>
              <a:srgbClr val="1A6B3C"/>
            </a:solidFill>
            <a:prstDash val="solid"/>
          </a:ln>
        </p:spPr>
      </p:sp>
      <p:sp>
        <p:nvSpPr>
          <p:cNvPr id="6" name="Text 4"/>
          <p:cNvSpPr/>
          <p:nvPr/>
        </p:nvSpPr>
        <p:spPr>
          <a:xfrm>
            <a:off x="274320" y="1170432"/>
            <a:ext cx="1371600" cy="475488"/>
          </a:xfrm>
          <a:prstGeom prst="rect">
            <a:avLst/>
          </a:prstGeom>
          <a:noFill/>
          <a:ln/>
        </p:spPr>
        <p:txBody>
          <a:bodyPr wrap="square" rtlCol="0" anchor="ctr"/>
          <a:lstStyle/>
          <a:p>
            <a:pPr algn="ctr" indent="0" marL="0">
              <a:buNone/>
            </a:pPr>
            <a:r>
              <a:rPr lang="en-US" sz="950" b="1" dirty="0">
                <a:solidFill>
                  <a:srgbClr val="1A6B3C"/>
                </a:solidFill>
                <a:latin typeface="Calibri" pitchFamily="34" charset="0"/>
                <a:ea typeface="Calibri" pitchFamily="34" charset="-122"/>
                <a:cs typeface="Calibri" pitchFamily="34" charset="-120"/>
              </a:rPr>
              <a:t>MRI Slice</a:t>
            </a:r>
            <a:endParaRPr lang="en-US" sz="950" dirty="0"/>
          </a:p>
          <a:p>
            <a:pPr algn="ctr" indent="0" marL="0">
              <a:buNone/>
            </a:pPr>
            <a:r>
              <a:rPr lang="en-US" sz="950" b="1" dirty="0">
                <a:solidFill>
                  <a:srgbClr val="1A6B3C"/>
                </a:solidFill>
                <a:latin typeface="Calibri" pitchFamily="34" charset="0"/>
                <a:ea typeface="Calibri" pitchFamily="34" charset="-122"/>
                <a:cs typeface="Calibri" pitchFamily="34" charset="-120"/>
              </a:rPr>
              <a:t>224×224</a:t>
            </a:r>
            <a:endParaRPr lang="en-US" sz="950" dirty="0"/>
          </a:p>
        </p:txBody>
      </p:sp>
      <p:sp>
        <p:nvSpPr>
          <p:cNvPr id="7" name="Shape 5"/>
          <p:cNvSpPr/>
          <p:nvPr/>
        </p:nvSpPr>
        <p:spPr>
          <a:xfrm>
            <a:off x="1783080" y="1170432"/>
            <a:ext cx="1371600" cy="475488"/>
          </a:xfrm>
          <a:prstGeom prst="rect">
            <a:avLst/>
          </a:prstGeom>
          <a:solidFill>
            <a:srgbClr val="2E8B57"/>
          </a:solidFill>
          <a:ln w="12700">
            <a:solidFill>
              <a:srgbClr val="1A6B3C"/>
            </a:solidFill>
            <a:prstDash val="solid"/>
          </a:ln>
        </p:spPr>
      </p:sp>
      <p:sp>
        <p:nvSpPr>
          <p:cNvPr id="8" name="Text 6"/>
          <p:cNvSpPr/>
          <p:nvPr/>
        </p:nvSpPr>
        <p:spPr>
          <a:xfrm>
            <a:off x="1783080" y="1170432"/>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 Block 1</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64 ch</a:t>
            </a:r>
            <a:endParaRPr lang="en-US" sz="950" dirty="0"/>
          </a:p>
        </p:txBody>
      </p:sp>
      <p:sp>
        <p:nvSpPr>
          <p:cNvPr id="9" name="Shape 7"/>
          <p:cNvSpPr/>
          <p:nvPr/>
        </p:nvSpPr>
        <p:spPr>
          <a:xfrm>
            <a:off x="3291840" y="1170432"/>
            <a:ext cx="1371600" cy="475488"/>
          </a:xfrm>
          <a:prstGeom prst="rect">
            <a:avLst/>
          </a:prstGeom>
          <a:solidFill>
            <a:srgbClr val="2E8B57"/>
          </a:solidFill>
          <a:ln w="12700">
            <a:solidFill>
              <a:srgbClr val="1A6B3C"/>
            </a:solidFill>
            <a:prstDash val="solid"/>
          </a:ln>
        </p:spPr>
      </p:sp>
      <p:sp>
        <p:nvSpPr>
          <p:cNvPr id="10" name="Text 8"/>
          <p:cNvSpPr/>
          <p:nvPr/>
        </p:nvSpPr>
        <p:spPr>
          <a:xfrm>
            <a:off x="3291840" y="1170432"/>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 Block 2</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128 ch</a:t>
            </a:r>
            <a:endParaRPr lang="en-US" sz="950" dirty="0"/>
          </a:p>
        </p:txBody>
      </p:sp>
      <p:sp>
        <p:nvSpPr>
          <p:cNvPr id="11" name="Shape 9"/>
          <p:cNvSpPr/>
          <p:nvPr/>
        </p:nvSpPr>
        <p:spPr>
          <a:xfrm>
            <a:off x="4800600" y="1170432"/>
            <a:ext cx="1371600" cy="475488"/>
          </a:xfrm>
          <a:prstGeom prst="rect">
            <a:avLst/>
          </a:prstGeom>
          <a:solidFill>
            <a:srgbClr val="2E8B57"/>
          </a:solidFill>
          <a:ln w="12700">
            <a:solidFill>
              <a:srgbClr val="1A6B3C"/>
            </a:solidFill>
            <a:prstDash val="solid"/>
          </a:ln>
        </p:spPr>
      </p:sp>
      <p:sp>
        <p:nvSpPr>
          <p:cNvPr id="12" name="Text 10"/>
          <p:cNvSpPr/>
          <p:nvPr/>
        </p:nvSpPr>
        <p:spPr>
          <a:xfrm>
            <a:off x="4800600" y="1170432"/>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 Block 3</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256 ch</a:t>
            </a:r>
            <a:endParaRPr lang="en-US" sz="950" dirty="0"/>
          </a:p>
        </p:txBody>
      </p:sp>
      <p:sp>
        <p:nvSpPr>
          <p:cNvPr id="13" name="Shape 11"/>
          <p:cNvSpPr/>
          <p:nvPr/>
        </p:nvSpPr>
        <p:spPr>
          <a:xfrm>
            <a:off x="6309360" y="1170432"/>
            <a:ext cx="1371600" cy="475488"/>
          </a:xfrm>
          <a:prstGeom prst="rect">
            <a:avLst/>
          </a:prstGeom>
          <a:solidFill>
            <a:srgbClr val="1A6B3C"/>
          </a:solidFill>
          <a:ln w="12700">
            <a:solidFill>
              <a:srgbClr val="1A6B3C"/>
            </a:solidFill>
            <a:prstDash val="solid"/>
          </a:ln>
        </p:spPr>
      </p:sp>
      <p:sp>
        <p:nvSpPr>
          <p:cNvPr id="14" name="Text 12"/>
          <p:cNvSpPr/>
          <p:nvPr/>
        </p:nvSpPr>
        <p:spPr>
          <a:xfrm>
            <a:off x="6309360" y="1170432"/>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Conv Block 4</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512 ch</a:t>
            </a:r>
            <a:endParaRPr lang="en-US" sz="950" dirty="0"/>
          </a:p>
        </p:txBody>
      </p:sp>
      <p:sp>
        <p:nvSpPr>
          <p:cNvPr id="15" name="Shape 13"/>
          <p:cNvSpPr/>
          <p:nvPr/>
        </p:nvSpPr>
        <p:spPr>
          <a:xfrm>
            <a:off x="1664208" y="1408176"/>
            <a:ext cx="146304" cy="0"/>
          </a:xfrm>
          <a:prstGeom prst="line">
            <a:avLst/>
          </a:prstGeom>
          <a:noFill/>
          <a:ln w="19050">
            <a:solidFill>
              <a:srgbClr val="1A6B3C"/>
            </a:solidFill>
            <a:prstDash val="solid"/>
          </a:ln>
        </p:spPr>
      </p:sp>
      <p:sp>
        <p:nvSpPr>
          <p:cNvPr id="16" name="Shape 14"/>
          <p:cNvSpPr/>
          <p:nvPr/>
        </p:nvSpPr>
        <p:spPr>
          <a:xfrm>
            <a:off x="3172968" y="1408176"/>
            <a:ext cx="146304" cy="0"/>
          </a:xfrm>
          <a:prstGeom prst="line">
            <a:avLst/>
          </a:prstGeom>
          <a:noFill/>
          <a:ln w="19050">
            <a:solidFill>
              <a:srgbClr val="1A6B3C"/>
            </a:solidFill>
            <a:prstDash val="solid"/>
          </a:ln>
        </p:spPr>
      </p:sp>
      <p:sp>
        <p:nvSpPr>
          <p:cNvPr id="17" name="Shape 15"/>
          <p:cNvSpPr/>
          <p:nvPr/>
        </p:nvSpPr>
        <p:spPr>
          <a:xfrm>
            <a:off x="4681728" y="1408176"/>
            <a:ext cx="146304" cy="0"/>
          </a:xfrm>
          <a:prstGeom prst="line">
            <a:avLst/>
          </a:prstGeom>
          <a:noFill/>
          <a:ln w="19050">
            <a:solidFill>
              <a:srgbClr val="1A6B3C"/>
            </a:solidFill>
            <a:prstDash val="solid"/>
          </a:ln>
        </p:spPr>
      </p:sp>
      <p:sp>
        <p:nvSpPr>
          <p:cNvPr id="18" name="Shape 16"/>
          <p:cNvSpPr/>
          <p:nvPr/>
        </p:nvSpPr>
        <p:spPr>
          <a:xfrm>
            <a:off x="6190488" y="1408176"/>
            <a:ext cx="146304" cy="0"/>
          </a:xfrm>
          <a:prstGeom prst="line">
            <a:avLst/>
          </a:prstGeom>
          <a:noFill/>
          <a:ln w="19050">
            <a:solidFill>
              <a:srgbClr val="1A6B3C"/>
            </a:solidFill>
            <a:prstDash val="solid"/>
          </a:ln>
        </p:spPr>
      </p:sp>
      <p:sp>
        <p:nvSpPr>
          <p:cNvPr id="19" name="Shape 17"/>
          <p:cNvSpPr/>
          <p:nvPr/>
        </p:nvSpPr>
        <p:spPr>
          <a:xfrm>
            <a:off x="7452360" y="804672"/>
            <a:ext cx="1371600" cy="1371600"/>
          </a:xfrm>
          <a:prstGeom prst="rect">
            <a:avLst/>
          </a:prstGeom>
          <a:solidFill>
            <a:srgbClr val="4CAF50"/>
          </a:solidFill>
          <a:ln w="25400">
            <a:solidFill>
              <a:srgbClr val="1A6B3C"/>
            </a:solidFill>
            <a:prstDash val="solid"/>
          </a:ln>
          <a:effectLst>
            <a:outerShdw sx="100000" sy="100000" kx="0" ky="0" algn="bl" rotWithShape="0" blurRad="63500" dist="25400" dir="8100000">
              <a:srgbClr val="000000">
                <a:alpha val="10000"/>
              </a:srgbClr>
            </a:outerShdw>
          </a:effectLst>
        </p:spPr>
      </p:sp>
      <p:sp>
        <p:nvSpPr>
          <p:cNvPr id="20" name="Text 18"/>
          <p:cNvSpPr/>
          <p:nvPr/>
        </p:nvSpPr>
        <p:spPr>
          <a:xfrm>
            <a:off x="7452360" y="804672"/>
            <a:ext cx="1371600" cy="1371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Cross-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Attention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Bottleneck</a:t>
            </a:r>
            <a:endParaRPr lang="en-US" sz="1000" dirty="0"/>
          </a:p>
        </p:txBody>
      </p:sp>
      <p:sp>
        <p:nvSpPr>
          <p:cNvPr id="21" name="Shape 19"/>
          <p:cNvSpPr/>
          <p:nvPr/>
        </p:nvSpPr>
        <p:spPr>
          <a:xfrm>
            <a:off x="7406640" y="1408176"/>
            <a:ext cx="73152" cy="0"/>
          </a:xfrm>
          <a:prstGeom prst="line">
            <a:avLst/>
          </a:prstGeom>
          <a:noFill/>
          <a:ln w="19050">
            <a:solidFill>
              <a:srgbClr val="1A6B3C"/>
            </a:solidFill>
            <a:prstDash val="solid"/>
          </a:ln>
        </p:spPr>
      </p:sp>
      <p:sp>
        <p:nvSpPr>
          <p:cNvPr id="22" name="Text 20"/>
          <p:cNvSpPr/>
          <p:nvPr/>
        </p:nvSpPr>
        <p:spPr>
          <a:xfrm>
            <a:off x="274320" y="2395728"/>
            <a:ext cx="5029200" cy="320040"/>
          </a:xfrm>
          <a:prstGeom prst="rect">
            <a:avLst/>
          </a:prstGeom>
          <a:noFill/>
          <a:ln/>
        </p:spPr>
        <p:txBody>
          <a:bodyPr wrap="square"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LANGUAGE BRANCH  (ClinicalBERT)</a:t>
            </a:r>
            <a:endParaRPr lang="en-US" sz="1100" dirty="0"/>
          </a:p>
        </p:txBody>
      </p:sp>
      <p:sp>
        <p:nvSpPr>
          <p:cNvPr id="23" name="Shape 21"/>
          <p:cNvSpPr/>
          <p:nvPr/>
        </p:nvSpPr>
        <p:spPr>
          <a:xfrm>
            <a:off x="274320" y="2761488"/>
            <a:ext cx="1371600" cy="475488"/>
          </a:xfrm>
          <a:prstGeom prst="rect">
            <a:avLst/>
          </a:prstGeom>
          <a:solidFill>
            <a:srgbClr val="A8D5B5"/>
          </a:solidFill>
          <a:ln w="12700">
            <a:solidFill>
              <a:srgbClr val="1A6B3C"/>
            </a:solidFill>
            <a:prstDash val="solid"/>
          </a:ln>
        </p:spPr>
      </p:sp>
      <p:sp>
        <p:nvSpPr>
          <p:cNvPr id="24" name="Text 22"/>
          <p:cNvSpPr/>
          <p:nvPr/>
        </p:nvSpPr>
        <p:spPr>
          <a:xfrm>
            <a:off x="274320" y="2761488"/>
            <a:ext cx="1371600" cy="475488"/>
          </a:xfrm>
          <a:prstGeom prst="rect">
            <a:avLst/>
          </a:prstGeom>
          <a:noFill/>
          <a:ln/>
        </p:spPr>
        <p:txBody>
          <a:bodyPr wrap="square" rtlCol="0" anchor="ctr"/>
          <a:lstStyle/>
          <a:p>
            <a:pPr algn="ctr" indent="0" marL="0">
              <a:buNone/>
            </a:pPr>
            <a:r>
              <a:rPr lang="en-US" sz="950" b="1" dirty="0">
                <a:solidFill>
                  <a:srgbClr val="1A6B3C"/>
                </a:solidFill>
                <a:latin typeface="Calibri" pitchFamily="34" charset="0"/>
                <a:ea typeface="Calibri" pitchFamily="34" charset="-122"/>
                <a:cs typeface="Calibri" pitchFamily="34" charset="-120"/>
              </a:rPr>
              <a:t>Report</a:t>
            </a:r>
            <a:endParaRPr lang="en-US" sz="950" dirty="0"/>
          </a:p>
          <a:p>
            <a:pPr algn="ctr" indent="0" marL="0">
              <a:buNone/>
            </a:pPr>
            <a:r>
              <a:rPr lang="en-US" sz="950" b="1" dirty="0">
                <a:solidFill>
                  <a:srgbClr val="1A6B3C"/>
                </a:solidFill>
                <a:latin typeface="Calibri" pitchFamily="34" charset="0"/>
                <a:ea typeface="Calibri" pitchFamily="34" charset="-122"/>
                <a:cs typeface="Calibri" pitchFamily="34" charset="-120"/>
              </a:rPr>
              <a:t>Tokens</a:t>
            </a:r>
            <a:endParaRPr lang="en-US" sz="950" dirty="0"/>
          </a:p>
        </p:txBody>
      </p:sp>
      <p:sp>
        <p:nvSpPr>
          <p:cNvPr id="25" name="Shape 23"/>
          <p:cNvSpPr/>
          <p:nvPr/>
        </p:nvSpPr>
        <p:spPr>
          <a:xfrm>
            <a:off x="1783080" y="2761488"/>
            <a:ext cx="1371600" cy="475488"/>
          </a:xfrm>
          <a:prstGeom prst="rect">
            <a:avLst/>
          </a:prstGeom>
          <a:solidFill>
            <a:srgbClr val="2E8B57"/>
          </a:solidFill>
          <a:ln w="12700">
            <a:solidFill>
              <a:srgbClr val="1A6B3C"/>
            </a:solidFill>
            <a:prstDash val="solid"/>
          </a:ln>
        </p:spPr>
      </p:sp>
      <p:sp>
        <p:nvSpPr>
          <p:cNvPr id="26" name="Text 24"/>
          <p:cNvSpPr/>
          <p:nvPr/>
        </p:nvSpPr>
        <p:spPr>
          <a:xfrm>
            <a:off x="1783080" y="2761488"/>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ClinicalBERT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Layers 1–6</a:t>
            </a:r>
            <a:endParaRPr lang="en-US" sz="950" dirty="0"/>
          </a:p>
        </p:txBody>
      </p:sp>
      <p:sp>
        <p:nvSpPr>
          <p:cNvPr id="27" name="Shape 25"/>
          <p:cNvSpPr/>
          <p:nvPr/>
        </p:nvSpPr>
        <p:spPr>
          <a:xfrm>
            <a:off x="3291840" y="2761488"/>
            <a:ext cx="1371600" cy="475488"/>
          </a:xfrm>
          <a:prstGeom prst="rect">
            <a:avLst/>
          </a:prstGeom>
          <a:solidFill>
            <a:srgbClr val="2E8B57"/>
          </a:solidFill>
          <a:ln w="12700">
            <a:solidFill>
              <a:srgbClr val="1A6B3C"/>
            </a:solidFill>
            <a:prstDash val="solid"/>
          </a:ln>
        </p:spPr>
      </p:sp>
      <p:sp>
        <p:nvSpPr>
          <p:cNvPr id="28" name="Text 26"/>
          <p:cNvSpPr/>
          <p:nvPr/>
        </p:nvSpPr>
        <p:spPr>
          <a:xfrm>
            <a:off x="3291840" y="2761488"/>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ClinicalBERT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Layers 7–12</a:t>
            </a:r>
            <a:endParaRPr lang="en-US" sz="950" dirty="0"/>
          </a:p>
        </p:txBody>
      </p:sp>
      <p:sp>
        <p:nvSpPr>
          <p:cNvPr id="29" name="Shape 27"/>
          <p:cNvSpPr/>
          <p:nvPr/>
        </p:nvSpPr>
        <p:spPr>
          <a:xfrm>
            <a:off x="4800600" y="2761488"/>
            <a:ext cx="1371600" cy="475488"/>
          </a:xfrm>
          <a:prstGeom prst="rect">
            <a:avLst/>
          </a:prstGeom>
          <a:solidFill>
            <a:srgbClr val="1A6B3C"/>
          </a:solidFill>
          <a:ln w="12700">
            <a:solidFill>
              <a:srgbClr val="1A6B3C"/>
            </a:solidFill>
            <a:prstDash val="solid"/>
          </a:ln>
        </p:spPr>
      </p:sp>
      <p:sp>
        <p:nvSpPr>
          <p:cNvPr id="30" name="Text 28"/>
          <p:cNvSpPr/>
          <p:nvPr/>
        </p:nvSpPr>
        <p:spPr>
          <a:xfrm>
            <a:off x="4800600" y="2761488"/>
            <a:ext cx="1371600"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768-D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Embeddings</a:t>
            </a:r>
            <a:endParaRPr lang="en-US" sz="950" dirty="0"/>
          </a:p>
        </p:txBody>
      </p:sp>
      <p:sp>
        <p:nvSpPr>
          <p:cNvPr id="31" name="Shape 29"/>
          <p:cNvSpPr/>
          <p:nvPr/>
        </p:nvSpPr>
        <p:spPr>
          <a:xfrm>
            <a:off x="1664208" y="2999232"/>
            <a:ext cx="146304" cy="0"/>
          </a:xfrm>
          <a:prstGeom prst="line">
            <a:avLst/>
          </a:prstGeom>
          <a:noFill/>
          <a:ln w="19050">
            <a:solidFill>
              <a:srgbClr val="1A6B3C"/>
            </a:solidFill>
            <a:prstDash val="solid"/>
          </a:ln>
        </p:spPr>
      </p:sp>
      <p:sp>
        <p:nvSpPr>
          <p:cNvPr id="32" name="Shape 30"/>
          <p:cNvSpPr/>
          <p:nvPr/>
        </p:nvSpPr>
        <p:spPr>
          <a:xfrm>
            <a:off x="3172968" y="2999232"/>
            <a:ext cx="146304" cy="0"/>
          </a:xfrm>
          <a:prstGeom prst="line">
            <a:avLst/>
          </a:prstGeom>
          <a:noFill/>
          <a:ln w="19050">
            <a:solidFill>
              <a:srgbClr val="1A6B3C"/>
            </a:solidFill>
            <a:prstDash val="solid"/>
          </a:ln>
        </p:spPr>
      </p:sp>
      <p:sp>
        <p:nvSpPr>
          <p:cNvPr id="33" name="Shape 31"/>
          <p:cNvSpPr/>
          <p:nvPr/>
        </p:nvSpPr>
        <p:spPr>
          <a:xfrm>
            <a:off x="4681728" y="2999232"/>
            <a:ext cx="146304" cy="0"/>
          </a:xfrm>
          <a:prstGeom prst="line">
            <a:avLst/>
          </a:prstGeom>
          <a:noFill/>
          <a:ln w="19050">
            <a:solidFill>
              <a:srgbClr val="1A6B3C"/>
            </a:solidFill>
            <a:prstDash val="solid"/>
          </a:ln>
        </p:spPr>
      </p:sp>
      <p:sp>
        <p:nvSpPr>
          <p:cNvPr id="34" name="Shape 32"/>
          <p:cNvSpPr/>
          <p:nvPr/>
        </p:nvSpPr>
        <p:spPr>
          <a:xfrm>
            <a:off x="6144768" y="2999232"/>
            <a:ext cx="1335024" cy="0"/>
          </a:xfrm>
          <a:prstGeom prst="line">
            <a:avLst/>
          </a:prstGeom>
          <a:noFill/>
          <a:ln w="19050">
            <a:solidFill>
              <a:srgbClr val="1A6B3C"/>
            </a:solidFill>
            <a:prstDash val="solid"/>
          </a:ln>
        </p:spPr>
      </p:sp>
      <p:sp>
        <p:nvSpPr>
          <p:cNvPr id="35" name="Shape 33"/>
          <p:cNvSpPr/>
          <p:nvPr/>
        </p:nvSpPr>
        <p:spPr>
          <a:xfrm>
            <a:off x="7479792" y="1261872"/>
            <a:ext cx="0" cy="1737360"/>
          </a:xfrm>
          <a:prstGeom prst="line">
            <a:avLst/>
          </a:prstGeom>
          <a:noFill/>
          <a:ln w="19050">
            <a:solidFill>
              <a:srgbClr val="1A6B3C"/>
            </a:solidFill>
            <a:prstDash val="solid"/>
          </a:ln>
        </p:spPr>
      </p:sp>
      <p:sp>
        <p:nvSpPr>
          <p:cNvPr id="36" name="Text 34"/>
          <p:cNvSpPr/>
          <p:nvPr/>
        </p:nvSpPr>
        <p:spPr>
          <a:xfrm>
            <a:off x="274320" y="3749040"/>
            <a:ext cx="8595360" cy="274320"/>
          </a:xfrm>
          <a:prstGeom prst="rect">
            <a:avLst/>
          </a:prstGeom>
          <a:noFill/>
          <a:ln/>
        </p:spPr>
        <p:txBody>
          <a:bodyPr wrap="square"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DUAL DECODERS</a:t>
            </a:r>
            <a:endParaRPr lang="en-US" sz="1100" dirty="0"/>
          </a:p>
        </p:txBody>
      </p:sp>
      <p:sp>
        <p:nvSpPr>
          <p:cNvPr id="37" name="Shape 35"/>
          <p:cNvSpPr/>
          <p:nvPr/>
        </p:nvSpPr>
        <p:spPr>
          <a:xfrm>
            <a:off x="274320" y="4069080"/>
            <a:ext cx="3931920" cy="640080"/>
          </a:xfrm>
          <a:prstGeom prst="rect">
            <a:avLst/>
          </a:prstGeom>
          <a:solidFill>
            <a:srgbClr val="2E8B57"/>
          </a:solidFill>
          <a:ln w="12700">
            <a:solidFill>
              <a:srgbClr val="1A6B3C"/>
            </a:solidFill>
            <a:prstDash val="solid"/>
          </a:ln>
        </p:spPr>
      </p:sp>
      <p:sp>
        <p:nvSpPr>
          <p:cNvPr id="38" name="Text 36"/>
          <p:cNvSpPr/>
          <p:nvPr/>
        </p:nvSpPr>
        <p:spPr>
          <a:xfrm>
            <a:off x="274320" y="4069080"/>
            <a:ext cx="393192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Segmentation Decoder → Binary Mask (224×224)</a:t>
            </a:r>
            <a:endParaRPr lang="en-US" sz="1100" dirty="0"/>
          </a:p>
        </p:txBody>
      </p:sp>
      <p:sp>
        <p:nvSpPr>
          <p:cNvPr id="39" name="Shape 37"/>
          <p:cNvSpPr/>
          <p:nvPr/>
        </p:nvSpPr>
        <p:spPr>
          <a:xfrm>
            <a:off x="4617720" y="4069080"/>
            <a:ext cx="4206240" cy="640080"/>
          </a:xfrm>
          <a:prstGeom prst="rect">
            <a:avLst/>
          </a:prstGeom>
          <a:solidFill>
            <a:srgbClr val="1A6B3C"/>
          </a:solidFill>
          <a:ln w="12700">
            <a:solidFill>
              <a:srgbClr val="1A6B3C"/>
            </a:solidFill>
            <a:prstDash val="solid"/>
          </a:ln>
        </p:spPr>
      </p:sp>
      <p:sp>
        <p:nvSpPr>
          <p:cNvPr id="40" name="Text 38"/>
          <p:cNvSpPr/>
          <p:nvPr/>
        </p:nvSpPr>
        <p:spPr>
          <a:xfrm>
            <a:off x="4617720" y="4069080"/>
            <a:ext cx="420624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Generation Decoder → Radiology Report (token-by-token)</a:t>
            </a:r>
            <a:endParaRPr lang="en-US" sz="1100" dirty="0"/>
          </a:p>
        </p:txBody>
      </p:sp>
      <p:sp>
        <p:nvSpPr>
          <p:cNvPr id="41" name="Shape 39"/>
          <p:cNvSpPr/>
          <p:nvPr/>
        </p:nvSpPr>
        <p:spPr>
          <a:xfrm>
            <a:off x="8138160" y="2176272"/>
            <a:ext cx="0" cy="1901952"/>
          </a:xfrm>
          <a:prstGeom prst="line">
            <a:avLst/>
          </a:prstGeom>
          <a:noFill/>
          <a:ln w="19050">
            <a:solidFill>
              <a:srgbClr val="4CAF50"/>
            </a:solidFill>
            <a:prstDash val="solid"/>
          </a:ln>
        </p:spPr>
      </p:sp>
      <p:sp>
        <p:nvSpPr>
          <p:cNvPr id="42" name="Shape 40"/>
          <p:cNvSpPr/>
          <p:nvPr/>
        </p:nvSpPr>
        <p:spPr>
          <a:xfrm>
            <a:off x="4206240" y="4069080"/>
            <a:ext cx="3931920" cy="0"/>
          </a:xfrm>
          <a:prstGeom prst="line">
            <a:avLst/>
          </a:prstGeom>
          <a:noFill/>
          <a:ln w="19050">
            <a:solidFill>
              <a:srgbClr val="4CAF50"/>
            </a:solidFill>
            <a:prstDash val="solid"/>
          </a:ln>
        </p:spPr>
      </p:sp>
      <p:sp>
        <p:nvSpPr>
          <p:cNvPr id="43" name="Shape 41"/>
          <p:cNvSpPr/>
          <p:nvPr/>
        </p:nvSpPr>
        <p:spPr>
          <a:xfrm>
            <a:off x="2240280" y="4069080"/>
            <a:ext cx="0" cy="0"/>
          </a:xfrm>
          <a:prstGeom prst="line">
            <a:avLst/>
          </a:prstGeom>
          <a:noFill/>
          <a:ln w="19050">
            <a:solidFill>
              <a:srgbClr val="4CAF5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Vision Branch – UNet Encoder</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1920240"/>
        </p:xfrm>
        <a:graphic>
          <a:graphicData uri="http://schemas.openxmlformats.org/drawingml/2006/table">
            <a:tbl>
              <a:tblPr/>
              <a:tblGrid>
                <a:gridCol w="640080"/>
                <a:gridCol w="1645920"/>
                <a:gridCol w="1371600"/>
                <a:gridCol w="47548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Spatial Dim.</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Channels</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Operations</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r>
              <a:tr h="384048">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224 × 224</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Conv 3×3 → BN → ReLU (×2), MaxPool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84048">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112 × 112</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Conv 3×3 → BN → ReLU (×2), MaxPool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84048">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56 × 56</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256</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Conv 3×3 → BN → ReLU (×2), MaxPool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84048">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28 × 28</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512</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Conv 3×3 → BN → ReLU (×2), MaxPool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bl>
          </a:graphicData>
        </a:graphic>
      </p:graphicFrame>
      <p:sp>
        <p:nvSpPr>
          <p:cNvPr id="5" name="Shape 2"/>
          <p:cNvSpPr/>
          <p:nvPr/>
        </p:nvSpPr>
        <p:spPr>
          <a:xfrm>
            <a:off x="365760" y="2926080"/>
            <a:ext cx="4069080" cy="868680"/>
          </a:xfrm>
          <a:prstGeom prst="roundRect">
            <a:avLst>
              <a:gd name="adj" fmla="val 1052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6" name="Text 3"/>
          <p:cNvSpPr/>
          <p:nvPr/>
        </p:nvSpPr>
        <p:spPr>
          <a:xfrm>
            <a:off x="502920" y="2999232"/>
            <a:ext cx="3749040" cy="274320"/>
          </a:xfrm>
          <a:prstGeom prst="rect">
            <a:avLst/>
          </a:prstGeom>
          <a:noFill/>
          <a:ln/>
        </p:spPr>
        <p:txBody>
          <a:bodyPr wrap="square" rtlCol="0" anchor="ctr"/>
          <a:lstStyle/>
          <a:p>
            <a:pPr indent="0" marL="0">
              <a:buNone/>
            </a:pPr>
            <a:r>
              <a:rPr lang="en-US" sz="1150" b="1" dirty="0">
                <a:solidFill>
                  <a:srgbClr val="1A6B3C"/>
                </a:solidFill>
                <a:latin typeface="Calibri" pitchFamily="34" charset="0"/>
                <a:ea typeface="Calibri" pitchFamily="34" charset="-122"/>
                <a:cs typeface="Calibri" pitchFamily="34" charset="-120"/>
              </a:rPr>
              <a:t>🔁  Skip Connections</a:t>
            </a:r>
            <a:endParaRPr lang="en-US" sz="1150" dirty="0"/>
          </a:p>
        </p:txBody>
      </p:sp>
      <p:sp>
        <p:nvSpPr>
          <p:cNvPr id="7" name="Text 4"/>
          <p:cNvSpPr/>
          <p:nvPr/>
        </p:nvSpPr>
        <p:spPr>
          <a:xfrm>
            <a:off x="502920" y="3273552"/>
            <a:ext cx="3749040" cy="4572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Preserve fine-grained spatial details from each encoder level, passed to corresponding decoder stage to restore spatial precision lost during downsampling.</a:t>
            </a:r>
            <a:endParaRPr lang="en-US" sz="1050" dirty="0"/>
          </a:p>
        </p:txBody>
      </p:sp>
      <p:sp>
        <p:nvSpPr>
          <p:cNvPr id="8" name="Shape 5"/>
          <p:cNvSpPr/>
          <p:nvPr/>
        </p:nvSpPr>
        <p:spPr>
          <a:xfrm>
            <a:off x="4663440" y="2926080"/>
            <a:ext cx="4069080" cy="868680"/>
          </a:xfrm>
          <a:prstGeom prst="roundRect">
            <a:avLst>
              <a:gd name="adj" fmla="val 1052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9" name="Text 6"/>
          <p:cNvSpPr/>
          <p:nvPr/>
        </p:nvSpPr>
        <p:spPr>
          <a:xfrm>
            <a:off x="4800600" y="2999232"/>
            <a:ext cx="3749040" cy="274320"/>
          </a:xfrm>
          <a:prstGeom prst="rect">
            <a:avLst/>
          </a:prstGeom>
          <a:noFill/>
          <a:ln/>
        </p:spPr>
        <p:txBody>
          <a:bodyPr wrap="square" rtlCol="0" anchor="ctr"/>
          <a:lstStyle/>
          <a:p>
            <a:pPr indent="0" marL="0">
              <a:buNone/>
            </a:pPr>
            <a:r>
              <a:rPr lang="en-US" sz="1150" b="1" dirty="0">
                <a:solidFill>
                  <a:srgbClr val="1A6B3C"/>
                </a:solidFill>
                <a:latin typeface="Calibri" pitchFamily="34" charset="0"/>
                <a:ea typeface="Calibri" pitchFamily="34" charset="-122"/>
                <a:cs typeface="Calibri" pitchFamily="34" charset="-120"/>
              </a:rPr>
              <a:t>📐  Batch Normalization</a:t>
            </a:r>
            <a:endParaRPr lang="en-US" sz="1150" dirty="0"/>
          </a:p>
        </p:txBody>
      </p:sp>
      <p:sp>
        <p:nvSpPr>
          <p:cNvPr id="10" name="Text 7"/>
          <p:cNvSpPr/>
          <p:nvPr/>
        </p:nvSpPr>
        <p:spPr>
          <a:xfrm>
            <a:off x="4800600" y="3273552"/>
            <a:ext cx="3749040" cy="4572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Applied after every convolution to stabilize activation distributions and accelerate training convergence.</a:t>
            </a:r>
            <a:endParaRPr lang="en-US" sz="1050" dirty="0"/>
          </a:p>
        </p:txBody>
      </p:sp>
      <p:sp>
        <p:nvSpPr>
          <p:cNvPr id="11" name="Shape 8"/>
          <p:cNvSpPr/>
          <p:nvPr/>
        </p:nvSpPr>
        <p:spPr>
          <a:xfrm>
            <a:off x="365760" y="3931920"/>
            <a:ext cx="4069080" cy="868680"/>
          </a:xfrm>
          <a:prstGeom prst="roundRect">
            <a:avLst>
              <a:gd name="adj" fmla="val 1052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2" name="Text 9"/>
          <p:cNvSpPr/>
          <p:nvPr/>
        </p:nvSpPr>
        <p:spPr>
          <a:xfrm>
            <a:off x="502920" y="4005072"/>
            <a:ext cx="3749040" cy="274320"/>
          </a:xfrm>
          <a:prstGeom prst="rect">
            <a:avLst/>
          </a:prstGeom>
          <a:noFill/>
          <a:ln/>
        </p:spPr>
        <p:txBody>
          <a:bodyPr wrap="square" rtlCol="0" anchor="ctr"/>
          <a:lstStyle/>
          <a:p>
            <a:pPr indent="0" marL="0">
              <a:buNone/>
            </a:pPr>
            <a:r>
              <a:rPr lang="en-US" sz="1150" b="1" dirty="0">
                <a:solidFill>
                  <a:srgbClr val="1A6B3C"/>
                </a:solidFill>
                <a:latin typeface="Calibri" pitchFamily="34" charset="0"/>
                <a:ea typeface="Calibri" pitchFamily="34" charset="-122"/>
                <a:cs typeface="Calibri" pitchFamily="34" charset="-120"/>
              </a:rPr>
              <a:t>🔽  Max Pooling</a:t>
            </a:r>
            <a:endParaRPr lang="en-US" sz="1150" dirty="0"/>
          </a:p>
        </p:txBody>
      </p:sp>
      <p:sp>
        <p:nvSpPr>
          <p:cNvPr id="13" name="Text 10"/>
          <p:cNvSpPr/>
          <p:nvPr/>
        </p:nvSpPr>
        <p:spPr>
          <a:xfrm>
            <a:off x="502920" y="4279392"/>
            <a:ext cx="3749040" cy="4572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Halves spatial dimensions at each level, enabling the network to capture increasingly global and abstract features.</a:t>
            </a:r>
            <a:endParaRPr lang="en-US" sz="1050" dirty="0"/>
          </a:p>
        </p:txBody>
      </p:sp>
      <p:sp>
        <p:nvSpPr>
          <p:cNvPr id="14" name="Shape 11"/>
          <p:cNvSpPr/>
          <p:nvPr/>
        </p:nvSpPr>
        <p:spPr>
          <a:xfrm>
            <a:off x="4663440" y="3931920"/>
            <a:ext cx="4069080" cy="868680"/>
          </a:xfrm>
          <a:prstGeom prst="roundRect">
            <a:avLst>
              <a:gd name="adj" fmla="val 1052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5" name="Text 12"/>
          <p:cNvSpPr/>
          <p:nvPr/>
        </p:nvSpPr>
        <p:spPr>
          <a:xfrm>
            <a:off x="4800600" y="4005072"/>
            <a:ext cx="3749040" cy="274320"/>
          </a:xfrm>
          <a:prstGeom prst="rect">
            <a:avLst/>
          </a:prstGeom>
          <a:noFill/>
          <a:ln/>
        </p:spPr>
        <p:txBody>
          <a:bodyPr wrap="square" rtlCol="0" anchor="ctr"/>
          <a:lstStyle/>
          <a:p>
            <a:pPr indent="0" marL="0">
              <a:buNone/>
            </a:pPr>
            <a:r>
              <a:rPr lang="en-US" sz="1150" b="1" dirty="0">
                <a:solidFill>
                  <a:srgbClr val="1A6B3C"/>
                </a:solidFill>
                <a:latin typeface="Calibri" pitchFamily="34" charset="0"/>
                <a:ea typeface="Calibri" pitchFamily="34" charset="-122"/>
                <a:cs typeface="Calibri" pitchFamily="34" charset="-120"/>
              </a:rPr>
              <a:t>🎯  Receptive Field Growth</a:t>
            </a:r>
            <a:endParaRPr lang="en-US" sz="1150" dirty="0"/>
          </a:p>
        </p:txBody>
      </p:sp>
      <p:sp>
        <p:nvSpPr>
          <p:cNvPr id="16" name="Text 13"/>
          <p:cNvSpPr/>
          <p:nvPr/>
        </p:nvSpPr>
        <p:spPr>
          <a:xfrm>
            <a:off x="4800600" y="4279392"/>
            <a:ext cx="3749040" cy="4572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Successive 3×3 convolutions progressively increase the effective receptive field, essential for large tumor delineation.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Core Innovation: Multi-Head Cross-Attention Bottleneck</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Text 2"/>
          <p:cNvSpPr/>
          <p:nvPr/>
        </p:nvSpPr>
        <p:spPr>
          <a:xfrm>
            <a:off x="365760" y="804672"/>
            <a:ext cx="8412480" cy="365760"/>
          </a:xfrm>
          <a:prstGeom prst="rect">
            <a:avLst/>
          </a:prstGeom>
          <a:noFill/>
          <a:ln/>
        </p:spPr>
        <p:txBody>
          <a:bodyPr wrap="square" rtlCol="0" anchor="ctr"/>
          <a:lstStyle/>
          <a:p>
            <a:pPr indent="0" marL="0">
              <a:buNone/>
            </a:pPr>
            <a:r>
              <a:rPr lang="en-US" sz="1200" i="1" dirty="0">
                <a:solidFill>
                  <a:srgbClr val="4A6741"/>
                </a:solidFill>
                <a:latin typeface="Calibri" pitchFamily="34" charset="0"/>
                <a:ea typeface="Calibri" pitchFamily="34" charset="-122"/>
                <a:cs typeface="Calibri" pitchFamily="34" charset="-120"/>
              </a:rPr>
              <a:t>This is the architectural innovation that distinguishes VLM-UNet from standard segmentation models.</a:t>
            </a:r>
            <a:endParaRPr lang="en-US" sz="1200" dirty="0"/>
          </a:p>
        </p:txBody>
      </p:sp>
      <p:sp>
        <p:nvSpPr>
          <p:cNvPr id="5" name="Shape 3"/>
          <p:cNvSpPr/>
          <p:nvPr/>
        </p:nvSpPr>
        <p:spPr>
          <a:xfrm>
            <a:off x="365760" y="1298448"/>
            <a:ext cx="2560320" cy="777240"/>
          </a:xfrm>
          <a:prstGeom prst="rect">
            <a:avLst/>
          </a:prstGeom>
          <a:solidFill>
            <a:srgbClr val="2E8B57"/>
          </a:solidFill>
          <a:ln w="12700">
            <a:solidFill>
              <a:srgbClr val="1A6B3C"/>
            </a:solidFill>
            <a:prstDash val="solid"/>
          </a:ln>
        </p:spPr>
      </p:sp>
      <p:sp>
        <p:nvSpPr>
          <p:cNvPr id="6" name="Text 4"/>
          <p:cNvSpPr/>
          <p:nvPr/>
        </p:nvSpPr>
        <p:spPr>
          <a:xfrm>
            <a:off x="365760" y="1298448"/>
            <a:ext cx="2560320" cy="7772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Q (Queries)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Visual feature maps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(each spatial location)</a:t>
            </a:r>
            <a:endParaRPr lang="en-US" sz="1000" dirty="0"/>
          </a:p>
        </p:txBody>
      </p:sp>
      <p:sp>
        <p:nvSpPr>
          <p:cNvPr id="7" name="Shape 5"/>
          <p:cNvSpPr/>
          <p:nvPr/>
        </p:nvSpPr>
        <p:spPr>
          <a:xfrm>
            <a:off x="3200400" y="1298448"/>
            <a:ext cx="2560320" cy="777240"/>
          </a:xfrm>
          <a:prstGeom prst="rect">
            <a:avLst/>
          </a:prstGeom>
          <a:solidFill>
            <a:srgbClr val="1A6B3C"/>
          </a:solidFill>
          <a:ln w="12700">
            <a:solidFill>
              <a:srgbClr val="1A6B3C"/>
            </a:solidFill>
            <a:prstDash val="solid"/>
          </a:ln>
        </p:spPr>
      </p:sp>
      <p:sp>
        <p:nvSpPr>
          <p:cNvPr id="8" name="Text 6"/>
          <p:cNvSpPr/>
          <p:nvPr/>
        </p:nvSpPr>
        <p:spPr>
          <a:xfrm>
            <a:off x="3200400" y="1298448"/>
            <a:ext cx="2560320" cy="7772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K (Keys)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ClinicalBERT token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embeddings</a:t>
            </a:r>
            <a:endParaRPr lang="en-US" sz="1000" dirty="0"/>
          </a:p>
        </p:txBody>
      </p:sp>
      <p:sp>
        <p:nvSpPr>
          <p:cNvPr id="9" name="Shape 7"/>
          <p:cNvSpPr/>
          <p:nvPr/>
        </p:nvSpPr>
        <p:spPr>
          <a:xfrm>
            <a:off x="6035040" y="1298448"/>
            <a:ext cx="2560320" cy="777240"/>
          </a:xfrm>
          <a:prstGeom prst="rect">
            <a:avLst/>
          </a:prstGeom>
          <a:solidFill>
            <a:srgbClr val="1A6B3C"/>
          </a:solidFill>
          <a:ln w="12700">
            <a:solidFill>
              <a:srgbClr val="1A6B3C"/>
            </a:solidFill>
            <a:prstDash val="solid"/>
          </a:ln>
        </p:spPr>
      </p:sp>
      <p:sp>
        <p:nvSpPr>
          <p:cNvPr id="10" name="Text 8"/>
          <p:cNvSpPr/>
          <p:nvPr/>
        </p:nvSpPr>
        <p:spPr>
          <a:xfrm>
            <a:off x="6035040" y="1298448"/>
            <a:ext cx="2560320" cy="7772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 (Values)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ClinicalBERT token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embeddings</a:t>
            </a:r>
            <a:endParaRPr lang="en-US" sz="1000" dirty="0"/>
          </a:p>
        </p:txBody>
      </p:sp>
      <p:sp>
        <p:nvSpPr>
          <p:cNvPr id="11" name="Shape 9"/>
          <p:cNvSpPr/>
          <p:nvPr/>
        </p:nvSpPr>
        <p:spPr>
          <a:xfrm>
            <a:off x="365760" y="2240280"/>
            <a:ext cx="8412480" cy="777240"/>
          </a:xfrm>
          <a:prstGeom prst="roundRect">
            <a:avLst>
              <a:gd name="adj" fmla="val 11765"/>
            </a:avLst>
          </a:prstGeom>
          <a:solidFill>
            <a:srgbClr val="E8F5E9"/>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548640" y="2304288"/>
            <a:ext cx="8046720" cy="640080"/>
          </a:xfrm>
          <a:prstGeom prst="rect">
            <a:avLst/>
          </a:prstGeom>
          <a:noFill/>
          <a:ln/>
        </p:spPr>
        <p:txBody>
          <a:bodyPr wrap="square" rtlCol="0" anchor="ctr"/>
          <a:lstStyle/>
          <a:p>
            <a:pPr algn="ctr" indent="0" marL="0">
              <a:buNone/>
            </a:pPr>
            <a:r>
              <a:rPr lang="en-US" sz="1600" b="1" dirty="0">
                <a:solidFill>
                  <a:srgbClr val="1A6B3C"/>
                </a:solidFill>
                <a:latin typeface="Calibri" pitchFamily="34" charset="0"/>
                <a:ea typeface="Calibri" pitchFamily="34" charset="-122"/>
                <a:cs typeface="Calibri" pitchFamily="34" charset="-120"/>
              </a:rPr>
              <a:t>Attention(Q, K, V) = softmax( QKᵀ / √dk ) · V</a:t>
            </a:r>
            <a:endParaRPr lang="en-US" sz="1600" dirty="0"/>
          </a:p>
        </p:txBody>
      </p:sp>
      <p:sp>
        <p:nvSpPr>
          <p:cNvPr id="13" name="Shape 11"/>
          <p:cNvSpPr/>
          <p:nvPr/>
        </p:nvSpPr>
        <p:spPr>
          <a:xfrm>
            <a:off x="365760" y="3154680"/>
            <a:ext cx="4069080" cy="822960"/>
          </a:xfrm>
          <a:prstGeom prst="roundRect">
            <a:avLst>
              <a:gd name="adj" fmla="val 11111"/>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4" name="Text 12"/>
          <p:cNvSpPr/>
          <p:nvPr/>
        </p:nvSpPr>
        <p:spPr>
          <a:xfrm>
            <a:off x="502920" y="3227832"/>
            <a:ext cx="3749040" cy="274320"/>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Spatial Query Mechanism</a:t>
            </a:r>
            <a:endParaRPr lang="en-US" sz="1100" dirty="0"/>
          </a:p>
        </p:txBody>
      </p:sp>
      <p:sp>
        <p:nvSpPr>
          <p:cNvPr id="15" name="Text 13"/>
          <p:cNvSpPr/>
          <p:nvPr/>
        </p:nvSpPr>
        <p:spPr>
          <a:xfrm>
            <a:off x="502920" y="3502152"/>
            <a:ext cx="3749040" cy="41148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Each spatial visual patch 'queries' every clinical token. High compatibility = high attention weight.</a:t>
            </a:r>
            <a:endParaRPr lang="en-US" sz="1050" dirty="0"/>
          </a:p>
        </p:txBody>
      </p:sp>
      <p:sp>
        <p:nvSpPr>
          <p:cNvPr id="16" name="Shape 14"/>
          <p:cNvSpPr/>
          <p:nvPr/>
        </p:nvSpPr>
        <p:spPr>
          <a:xfrm>
            <a:off x="4663440" y="3154680"/>
            <a:ext cx="4069080" cy="822960"/>
          </a:xfrm>
          <a:prstGeom prst="roundRect">
            <a:avLst>
              <a:gd name="adj" fmla="val 11111"/>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7" name="Text 15"/>
          <p:cNvSpPr/>
          <p:nvPr/>
        </p:nvSpPr>
        <p:spPr>
          <a:xfrm>
            <a:off x="4800600" y="3227832"/>
            <a:ext cx="3749040" cy="274320"/>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Language Suppresses Noise</a:t>
            </a:r>
            <a:endParaRPr lang="en-US" sz="1100" dirty="0"/>
          </a:p>
        </p:txBody>
      </p:sp>
      <p:sp>
        <p:nvSpPr>
          <p:cNvPr id="18" name="Text 16"/>
          <p:cNvSpPr/>
          <p:nvPr/>
        </p:nvSpPr>
        <p:spPr>
          <a:xfrm>
            <a:off x="4800600" y="3502152"/>
            <a:ext cx="3749040" cy="41148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When report says 'right temporal lobe', model assigns high weights to right-hemisphere patches, suppressing irrelevant activations.</a:t>
            </a:r>
            <a:endParaRPr lang="en-US" sz="1050" dirty="0"/>
          </a:p>
        </p:txBody>
      </p:sp>
      <p:sp>
        <p:nvSpPr>
          <p:cNvPr id="19" name="Shape 17"/>
          <p:cNvSpPr/>
          <p:nvPr/>
        </p:nvSpPr>
        <p:spPr>
          <a:xfrm>
            <a:off x="365760" y="4069080"/>
            <a:ext cx="4069080" cy="822960"/>
          </a:xfrm>
          <a:prstGeom prst="roundRect">
            <a:avLst>
              <a:gd name="adj" fmla="val 11111"/>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0" name="Text 18"/>
          <p:cNvSpPr/>
          <p:nvPr/>
        </p:nvSpPr>
        <p:spPr>
          <a:xfrm>
            <a:off x="502920" y="4142232"/>
            <a:ext cx="3749040" cy="274320"/>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Multi-Head = Multi-Semantic</a:t>
            </a:r>
            <a:endParaRPr lang="en-US" sz="1100" dirty="0"/>
          </a:p>
        </p:txBody>
      </p:sp>
      <p:sp>
        <p:nvSpPr>
          <p:cNvPr id="21" name="Text 19"/>
          <p:cNvSpPr/>
          <p:nvPr/>
        </p:nvSpPr>
        <p:spPr>
          <a:xfrm>
            <a:off x="502920" y="4416552"/>
            <a:ext cx="3749040" cy="41148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Each attention head specializes: one for spatial location terms, another for intensity descriptors, another for size cues.</a:t>
            </a:r>
            <a:endParaRPr lang="en-US" sz="1050" dirty="0"/>
          </a:p>
        </p:txBody>
      </p:sp>
      <p:sp>
        <p:nvSpPr>
          <p:cNvPr id="22" name="Shape 20"/>
          <p:cNvSpPr/>
          <p:nvPr/>
        </p:nvSpPr>
        <p:spPr>
          <a:xfrm>
            <a:off x="4663440" y="4069080"/>
            <a:ext cx="4069080" cy="822960"/>
          </a:xfrm>
          <a:prstGeom prst="roundRect">
            <a:avLst>
              <a:gd name="adj" fmla="val 11111"/>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3" name="Text 21"/>
          <p:cNvSpPr/>
          <p:nvPr/>
        </p:nvSpPr>
        <p:spPr>
          <a:xfrm>
            <a:off x="4800600" y="4142232"/>
            <a:ext cx="3749040" cy="274320"/>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dk = 64 per head</a:t>
            </a:r>
            <a:endParaRPr lang="en-US" sz="1100" dirty="0"/>
          </a:p>
        </p:txBody>
      </p:sp>
      <p:sp>
        <p:nvSpPr>
          <p:cNvPr id="24" name="Text 22"/>
          <p:cNvSpPr/>
          <p:nvPr/>
        </p:nvSpPr>
        <p:spPr>
          <a:xfrm>
            <a:off x="4800600" y="4416552"/>
            <a:ext cx="3749040" cy="41148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Scaling by √dk = 8 prevents gradient vanishing from large dot-product magnitudes in high-dimensional space.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Dual Decoders &amp; Composite Loss Function</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04672"/>
            <a:ext cx="4114800" cy="4023360"/>
          </a:xfrm>
          <a:prstGeom prst="roundRect">
            <a:avLst>
              <a:gd name="adj" fmla="val 227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457200" y="850392"/>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Dual Decoders</a:t>
            </a:r>
            <a:endParaRPr lang="en-US" sz="1300" dirty="0"/>
          </a:p>
        </p:txBody>
      </p:sp>
      <p:sp>
        <p:nvSpPr>
          <p:cNvPr id="6" name="Text 4"/>
          <p:cNvSpPr/>
          <p:nvPr/>
        </p:nvSpPr>
        <p:spPr>
          <a:xfrm>
            <a:off x="457200" y="1261872"/>
            <a:ext cx="3749040" cy="274320"/>
          </a:xfrm>
          <a:prstGeom prst="rect">
            <a:avLst/>
          </a:prstGeom>
          <a:noFill/>
          <a:ln/>
        </p:spPr>
        <p:txBody>
          <a:bodyPr wrap="square"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Segmentation Decoder</a:t>
            </a:r>
            <a:endParaRPr lang="en-US" sz="1200" dirty="0"/>
          </a:p>
        </p:txBody>
      </p:sp>
      <p:sp>
        <p:nvSpPr>
          <p:cNvPr id="7" name="Text 5"/>
          <p:cNvSpPr/>
          <p:nvPr/>
        </p:nvSpPr>
        <p:spPr>
          <a:xfrm>
            <a:off x="457200" y="1572768"/>
            <a:ext cx="3749040" cy="1280160"/>
          </a:xfrm>
          <a:prstGeom prst="rect">
            <a:avLst/>
          </a:prstGeom>
          <a:noFill/>
          <a:ln/>
        </p:spPr>
        <p:txBody>
          <a:bodyPr wrap="square" rtlCol="0" anchor="ctr"/>
          <a:lstStyle/>
          <a:p>
            <a:pPr marL="342900" indent="-342900">
              <a:spcAft>
                <a:spcPts val="400"/>
              </a:spcAft>
              <a:buSzPct val="100000"/>
              <a:buChar char="•"/>
            </a:pPr>
            <a:r>
              <a:rPr lang="en-US" sz="1100" dirty="0">
                <a:solidFill>
                  <a:srgbClr val="1C1C1C"/>
                </a:solidFill>
                <a:latin typeface="Calibri" pitchFamily="34" charset="0"/>
                <a:ea typeface="Calibri" pitchFamily="34" charset="-122"/>
                <a:cs typeface="Calibri" pitchFamily="34" charset="-120"/>
              </a:rPr>
              <a:t>Mirrors encoder with transposed convolutions (upsampling)</a:t>
            </a:r>
            <a:endParaRPr lang="en-US" sz="1100" dirty="0"/>
          </a:p>
          <a:p>
            <a:pPr marL="342900" indent="-342900">
              <a:spcAft>
                <a:spcPts val="400"/>
              </a:spcAft>
              <a:buSzPct val="100000"/>
              <a:buChar char="•"/>
            </a:pPr>
            <a:r>
              <a:rPr lang="en-US" sz="1100" dirty="0">
                <a:solidFill>
                  <a:srgbClr val="1C1C1C"/>
                </a:solidFill>
                <a:latin typeface="Calibri" pitchFamily="34" charset="0"/>
                <a:ea typeface="Calibri" pitchFamily="34" charset="-122"/>
                <a:cs typeface="Calibri" pitchFamily="34" charset="-120"/>
              </a:rPr>
              <a:t>Skip connections concatenated at each stage</a:t>
            </a:r>
            <a:endParaRPr lang="en-US" sz="1100" dirty="0"/>
          </a:p>
          <a:p>
            <a:pPr marL="342900" indent="-342900">
              <a:spcAft>
                <a:spcPts val="400"/>
              </a:spcAft>
              <a:buSzPct val="100000"/>
              <a:buChar char="•"/>
            </a:pPr>
            <a:r>
              <a:rPr lang="en-US" sz="1100" dirty="0">
                <a:solidFill>
                  <a:srgbClr val="1C1C1C"/>
                </a:solidFill>
                <a:latin typeface="Calibri" pitchFamily="34" charset="0"/>
                <a:ea typeface="Calibri" pitchFamily="34" charset="-122"/>
                <a:cs typeface="Calibri" pitchFamily="34" charset="-120"/>
              </a:rPr>
              <a:t>1×1 Conv + Sigmoid → probability map ∈ [0,1]²²⁴ˣ²²⁴</a:t>
            </a:r>
            <a:endParaRPr lang="en-US" sz="1100" dirty="0"/>
          </a:p>
          <a:p>
            <a:pPr marL="342900" indent="-342900">
              <a:buSzPct val="100000"/>
              <a:buChar char="•"/>
            </a:pPr>
            <a:r>
              <a:rPr lang="en-US" sz="1100" dirty="0">
                <a:solidFill>
                  <a:srgbClr val="1C1C1C"/>
                </a:solidFill>
                <a:latin typeface="Calibri" pitchFamily="34" charset="0"/>
                <a:ea typeface="Calibri" pitchFamily="34" charset="-122"/>
                <a:cs typeface="Calibri" pitchFamily="34" charset="-120"/>
              </a:rPr>
              <a:t>Thresholded at 0.5 for binary tumor mask</a:t>
            </a:r>
            <a:endParaRPr lang="en-US" sz="1100" dirty="0"/>
          </a:p>
        </p:txBody>
      </p:sp>
      <p:sp>
        <p:nvSpPr>
          <p:cNvPr id="8" name="Text 6"/>
          <p:cNvSpPr/>
          <p:nvPr/>
        </p:nvSpPr>
        <p:spPr>
          <a:xfrm>
            <a:off x="457200" y="2907792"/>
            <a:ext cx="3749040" cy="274320"/>
          </a:xfrm>
          <a:prstGeom prst="rect">
            <a:avLst/>
          </a:prstGeom>
          <a:noFill/>
          <a:ln/>
        </p:spPr>
        <p:txBody>
          <a:bodyPr wrap="square"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Generation Decoder</a:t>
            </a:r>
            <a:endParaRPr lang="en-US" sz="1200" dirty="0"/>
          </a:p>
        </p:txBody>
      </p:sp>
      <p:sp>
        <p:nvSpPr>
          <p:cNvPr id="9" name="Text 7"/>
          <p:cNvSpPr/>
          <p:nvPr/>
        </p:nvSpPr>
        <p:spPr>
          <a:xfrm>
            <a:off x="457200" y="3218688"/>
            <a:ext cx="3749040" cy="1371600"/>
          </a:xfrm>
          <a:prstGeom prst="rect">
            <a:avLst/>
          </a:prstGeom>
          <a:noFill/>
          <a:ln/>
        </p:spPr>
        <p:txBody>
          <a:bodyPr wrap="square" rtlCol="0" anchor="ctr"/>
          <a:lstStyle/>
          <a:p>
            <a:pPr marL="342900" indent="-342900">
              <a:spcAft>
                <a:spcPts val="400"/>
              </a:spcAft>
              <a:buSzPct val="100000"/>
              <a:buChar char="•"/>
            </a:pPr>
            <a:r>
              <a:rPr lang="en-US" sz="1100" dirty="0">
                <a:solidFill>
                  <a:srgbClr val="1C1C1C"/>
                </a:solidFill>
                <a:latin typeface="Calibri" pitchFamily="34" charset="0"/>
                <a:ea typeface="Calibri" pitchFamily="34" charset="-122"/>
                <a:cs typeface="Calibri" pitchFamily="34" charset="-120"/>
              </a:rPr>
              <a:t>Transformer decoder — generates report token-by-token</a:t>
            </a:r>
            <a:endParaRPr lang="en-US" sz="1100" dirty="0"/>
          </a:p>
          <a:p>
            <a:pPr marL="342900" indent="-342900">
              <a:spcAft>
                <a:spcPts val="400"/>
              </a:spcAft>
              <a:buSzPct val="100000"/>
              <a:buChar char="•"/>
            </a:pPr>
            <a:r>
              <a:rPr lang="en-US" sz="1100" dirty="0">
                <a:solidFill>
                  <a:srgbClr val="1C1C1C"/>
                </a:solidFill>
                <a:latin typeface="Calibri" pitchFamily="34" charset="0"/>
                <a:ea typeface="Calibri" pitchFamily="34" charset="-122"/>
                <a:cs typeface="Calibri" pitchFamily="34" charset="-120"/>
              </a:rPr>
              <a:t>Conditioned on fused visual bottleneck features</a:t>
            </a:r>
            <a:endParaRPr lang="en-US" sz="1100" dirty="0"/>
          </a:p>
          <a:p>
            <a:pPr marL="342900" indent="-342900">
              <a:spcAft>
                <a:spcPts val="400"/>
              </a:spcAft>
              <a:buSzPct val="100000"/>
              <a:buChar char="•"/>
            </a:pPr>
            <a:r>
              <a:rPr lang="en-US" sz="1100" dirty="0">
                <a:solidFill>
                  <a:srgbClr val="1C1C1C"/>
                </a:solidFill>
                <a:latin typeface="Calibri" pitchFamily="34" charset="0"/>
                <a:ea typeface="Calibri" pitchFamily="34" charset="-122"/>
                <a:cs typeface="Calibri" pitchFamily="34" charset="-120"/>
              </a:rPr>
              <a:t>Training: Teacher forcing for stable gradient flow</a:t>
            </a:r>
            <a:endParaRPr lang="en-US" sz="1100" dirty="0"/>
          </a:p>
          <a:p>
            <a:pPr marL="342900" indent="-342900">
              <a:buSzPct val="100000"/>
              <a:buChar char="•"/>
            </a:pPr>
            <a:r>
              <a:rPr lang="en-US" sz="1100" dirty="0">
                <a:solidFill>
                  <a:srgbClr val="1C1C1C"/>
                </a:solidFill>
                <a:latin typeface="Calibri" pitchFamily="34" charset="0"/>
                <a:ea typeface="Calibri" pitchFamily="34" charset="-122"/>
                <a:cs typeface="Calibri" pitchFamily="34" charset="-120"/>
              </a:rPr>
              <a:t>Inference: Greedy / beam-search decoding</a:t>
            </a:r>
            <a:endParaRPr lang="en-US" sz="1100" dirty="0"/>
          </a:p>
        </p:txBody>
      </p:sp>
      <p:sp>
        <p:nvSpPr>
          <p:cNvPr id="10" name="Shape 8"/>
          <p:cNvSpPr/>
          <p:nvPr/>
        </p:nvSpPr>
        <p:spPr>
          <a:xfrm>
            <a:off x="4663440" y="804672"/>
            <a:ext cx="4114800" cy="4023360"/>
          </a:xfrm>
          <a:prstGeom prst="roundRect">
            <a:avLst>
              <a:gd name="adj" fmla="val 227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1" name="Text 9"/>
          <p:cNvSpPr/>
          <p:nvPr/>
        </p:nvSpPr>
        <p:spPr>
          <a:xfrm>
            <a:off x="4846320" y="850392"/>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Composite Loss Function</a:t>
            </a:r>
            <a:endParaRPr lang="en-US" sz="1300" dirty="0"/>
          </a:p>
        </p:txBody>
      </p:sp>
      <p:sp>
        <p:nvSpPr>
          <p:cNvPr id="12" name="Text 10"/>
          <p:cNvSpPr/>
          <p:nvPr/>
        </p:nvSpPr>
        <p:spPr>
          <a:xfrm>
            <a:off x="4846320" y="1261872"/>
            <a:ext cx="3749040" cy="347472"/>
          </a:xfrm>
          <a:prstGeom prst="rect">
            <a:avLst/>
          </a:prstGeom>
          <a:noFill/>
          <a:ln/>
        </p:spPr>
        <p:txBody>
          <a:bodyPr wrap="square" rtlCol="0" anchor="ctr"/>
          <a:lstStyle/>
          <a:p>
            <a:pPr algn="ctr" indent="0" marL="0">
              <a:buNone/>
            </a:pPr>
            <a:r>
              <a:rPr lang="en-US" sz="1150" b="1" dirty="0">
                <a:solidFill>
                  <a:srgbClr val="2E8B57"/>
                </a:solidFill>
                <a:latin typeface="Calibri" pitchFamily="34" charset="0"/>
                <a:ea typeface="Calibri" pitchFamily="34" charset="-122"/>
                <a:cs typeface="Calibri" pitchFamily="34" charset="-120"/>
              </a:rPr>
              <a:t>L_total = λ₁·L_Seg + λ₂·L_Gen + λ₃·L_Align</a:t>
            </a:r>
            <a:endParaRPr lang="en-US" sz="1150" dirty="0"/>
          </a:p>
        </p:txBody>
      </p:sp>
      <p:sp>
        <p:nvSpPr>
          <p:cNvPr id="13" name="Shape 11"/>
          <p:cNvSpPr/>
          <p:nvPr/>
        </p:nvSpPr>
        <p:spPr>
          <a:xfrm>
            <a:off x="4663440" y="1737360"/>
            <a:ext cx="411480" cy="749808"/>
          </a:xfrm>
          <a:prstGeom prst="rect">
            <a:avLst/>
          </a:prstGeom>
          <a:solidFill>
            <a:srgbClr val="2E8B57"/>
          </a:solidFill>
          <a:ln w="12700">
            <a:solidFill>
              <a:srgbClr val="2E8B57"/>
            </a:solidFill>
            <a:prstDash val="solid"/>
          </a:ln>
        </p:spPr>
      </p:sp>
      <p:sp>
        <p:nvSpPr>
          <p:cNvPr id="14" name="Text 12"/>
          <p:cNvSpPr/>
          <p:nvPr/>
        </p:nvSpPr>
        <p:spPr>
          <a:xfrm>
            <a:off x="4663440" y="1737360"/>
            <a:ext cx="411480"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L_Seg</a:t>
            </a:r>
            <a:endParaRPr lang="en-US" sz="900" dirty="0"/>
          </a:p>
        </p:txBody>
      </p:sp>
      <p:sp>
        <p:nvSpPr>
          <p:cNvPr id="15" name="Text 13"/>
          <p:cNvSpPr/>
          <p:nvPr/>
        </p:nvSpPr>
        <p:spPr>
          <a:xfrm>
            <a:off x="5120640" y="1773936"/>
            <a:ext cx="3474720" cy="713232"/>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Dice Loss + Binary Cross-Entropy. Dice directly optimises overlap metric and handles class imbalance. BCE calibrates pixel-wise probabilities.</a:t>
            </a:r>
            <a:endParaRPr lang="en-US" sz="1100" dirty="0"/>
          </a:p>
        </p:txBody>
      </p:sp>
      <p:sp>
        <p:nvSpPr>
          <p:cNvPr id="16" name="Shape 14"/>
          <p:cNvSpPr/>
          <p:nvPr/>
        </p:nvSpPr>
        <p:spPr>
          <a:xfrm>
            <a:off x="4663440" y="2743200"/>
            <a:ext cx="411480" cy="749808"/>
          </a:xfrm>
          <a:prstGeom prst="rect">
            <a:avLst/>
          </a:prstGeom>
          <a:solidFill>
            <a:srgbClr val="1A6B3C"/>
          </a:solidFill>
          <a:ln w="12700">
            <a:solidFill>
              <a:srgbClr val="1A6B3C"/>
            </a:solidFill>
            <a:prstDash val="solid"/>
          </a:ln>
        </p:spPr>
      </p:sp>
      <p:sp>
        <p:nvSpPr>
          <p:cNvPr id="17" name="Text 15"/>
          <p:cNvSpPr/>
          <p:nvPr/>
        </p:nvSpPr>
        <p:spPr>
          <a:xfrm>
            <a:off x="4663440" y="2743200"/>
            <a:ext cx="411480"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L_Gen</a:t>
            </a:r>
            <a:endParaRPr lang="en-US" sz="900" dirty="0"/>
          </a:p>
        </p:txBody>
      </p:sp>
      <p:sp>
        <p:nvSpPr>
          <p:cNvPr id="18" name="Text 16"/>
          <p:cNvSpPr/>
          <p:nvPr/>
        </p:nvSpPr>
        <p:spPr>
          <a:xfrm>
            <a:off x="5120640" y="2779776"/>
            <a:ext cx="3474720" cy="713232"/>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Token-level cross-entropy over generated report sequence (w* = ground-truth token at position t). Teacher forcing used during training.</a:t>
            </a:r>
            <a:endParaRPr lang="en-US" sz="1100" dirty="0"/>
          </a:p>
        </p:txBody>
      </p:sp>
      <p:sp>
        <p:nvSpPr>
          <p:cNvPr id="19" name="Shape 17"/>
          <p:cNvSpPr/>
          <p:nvPr/>
        </p:nvSpPr>
        <p:spPr>
          <a:xfrm>
            <a:off x="4663440" y="3749040"/>
            <a:ext cx="411480" cy="749808"/>
          </a:xfrm>
          <a:prstGeom prst="rect">
            <a:avLst/>
          </a:prstGeom>
          <a:solidFill>
            <a:srgbClr val="4CAF50"/>
          </a:solidFill>
          <a:ln w="12700">
            <a:solidFill>
              <a:srgbClr val="4CAF50"/>
            </a:solidFill>
            <a:prstDash val="solid"/>
          </a:ln>
        </p:spPr>
      </p:sp>
      <p:sp>
        <p:nvSpPr>
          <p:cNvPr id="20" name="Text 18"/>
          <p:cNvSpPr/>
          <p:nvPr/>
        </p:nvSpPr>
        <p:spPr>
          <a:xfrm>
            <a:off x="4663440" y="3749040"/>
            <a:ext cx="411480"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L_Align</a:t>
            </a:r>
            <a:endParaRPr lang="en-US" sz="900" dirty="0"/>
          </a:p>
        </p:txBody>
      </p:sp>
      <p:sp>
        <p:nvSpPr>
          <p:cNvPr id="21" name="Text 19"/>
          <p:cNvSpPr/>
          <p:nvPr/>
        </p:nvSpPr>
        <p:spPr>
          <a:xfrm>
            <a:off x="5120640" y="3785616"/>
            <a:ext cx="3474720" cy="713232"/>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Cosine similarity loss pulling image &amp; text global representations together — a contrastive alignment ensuring multimodal coherence.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Training Protocol &amp; Hyperparameters</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2834640"/>
        </p:xfrm>
        <a:graphic>
          <a:graphicData uri="http://schemas.openxmlformats.org/drawingml/2006/table">
            <a:tbl>
              <a:tblPr/>
              <a:tblGrid>
                <a:gridCol w="2560320"/>
                <a:gridCol w="5852160"/>
              </a:tblGrid>
              <a:tr h="35433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Hyperparameter</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 / Description</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Optimizer</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AdamW (Adam with decoupled weight decay)</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1 × 10⁻⁴</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Weight Decay</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0.01 — prevents overfitting on limited text data</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LR Schedule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Cosine Annealing — smoothly decays from η_max to η_min</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8 slices per step</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Epochs</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10 total; best validation model saved at Epoch 8</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354330">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Device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GPU (CUDA) with mixed-precision training</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bl>
          </a:graphicData>
        </a:graphic>
      </p:graphicFrame>
      <p:sp>
        <p:nvSpPr>
          <p:cNvPr id="5" name="Shape 2"/>
          <p:cNvSpPr/>
          <p:nvPr/>
        </p:nvSpPr>
        <p:spPr>
          <a:xfrm>
            <a:off x="365760" y="3794760"/>
            <a:ext cx="4069080" cy="1024128"/>
          </a:xfrm>
          <a:prstGeom prst="roundRect">
            <a:avLst>
              <a:gd name="adj" fmla="val 8929"/>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6" name="Text 3"/>
          <p:cNvSpPr/>
          <p:nvPr/>
        </p:nvSpPr>
        <p:spPr>
          <a:xfrm>
            <a:off x="502920" y="3840480"/>
            <a:ext cx="3749040" cy="292608"/>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Why AdamW?</a:t>
            </a:r>
            <a:endParaRPr lang="en-US" sz="1200" dirty="0"/>
          </a:p>
        </p:txBody>
      </p:sp>
      <p:sp>
        <p:nvSpPr>
          <p:cNvPr id="7" name="Text 4"/>
          <p:cNvSpPr/>
          <p:nvPr/>
        </p:nvSpPr>
        <p:spPr>
          <a:xfrm>
            <a:off x="502920" y="4160520"/>
            <a:ext cx="3749040" cy="59436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Decoupled weight decay prevents L2 regularization from interfering with adaptive learning rates — critical for multi-task training stability.</a:t>
            </a:r>
            <a:endParaRPr lang="en-US" sz="1100" dirty="0"/>
          </a:p>
        </p:txBody>
      </p:sp>
      <p:sp>
        <p:nvSpPr>
          <p:cNvPr id="8" name="Shape 5"/>
          <p:cNvSpPr/>
          <p:nvPr/>
        </p:nvSpPr>
        <p:spPr>
          <a:xfrm>
            <a:off x="4663440" y="3794760"/>
            <a:ext cx="4069080" cy="1024128"/>
          </a:xfrm>
          <a:prstGeom prst="roundRect">
            <a:avLst>
              <a:gd name="adj" fmla="val 8929"/>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9" name="Text 6"/>
          <p:cNvSpPr/>
          <p:nvPr/>
        </p:nvSpPr>
        <p:spPr>
          <a:xfrm>
            <a:off x="4800600" y="3840480"/>
            <a:ext cx="3749040" cy="292608"/>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Why Cosine Annealing?</a:t>
            </a:r>
            <a:endParaRPr lang="en-US" sz="1200" dirty="0"/>
          </a:p>
        </p:txBody>
      </p:sp>
      <p:sp>
        <p:nvSpPr>
          <p:cNvPr id="10" name="Text 7"/>
          <p:cNvSpPr/>
          <p:nvPr/>
        </p:nvSpPr>
        <p:spPr>
          <a:xfrm>
            <a:off x="4800600" y="4160520"/>
            <a:ext cx="3749040" cy="59436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Avoids abrupt LR steps that destabilize the multi-task gradient balance. Smoothly reduces LR allowing fine-tuning without catastrophic forgetting.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Training Dynamics – 10 Epochs</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graphicFrame>
        <p:nvGraphicFramePr>
          <p:cNvPr id="4" name="Chart 0" descr=""/>
          <p:cNvGraphicFramePr/>
          <p:nvPr/>
        </p:nvGraphicFramePr>
        <p:xfrm>
          <a:off x="274320" y="822960"/>
          <a:ext cx="530352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669280" y="822960"/>
          <a:ext cx="3200400" cy="292608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274320" y="3858768"/>
            <a:ext cx="8595360" cy="0"/>
          </a:xfrm>
          <a:prstGeom prst="roundRect">
            <a:avLst>
              <a:gd name="adj" fmla="val Infinity"/>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7" name="Shape 3"/>
          <p:cNvSpPr/>
          <p:nvPr/>
        </p:nvSpPr>
        <p:spPr>
          <a:xfrm>
            <a:off x="274320" y="3858768"/>
            <a:ext cx="8595360" cy="0"/>
          </a:xfrm>
          <a:prstGeom prst="roundRect">
            <a:avLst>
              <a:gd name="adj" fmla="val Infinity"/>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8" name="Shape 4"/>
          <p:cNvSpPr/>
          <p:nvPr/>
        </p:nvSpPr>
        <p:spPr>
          <a:xfrm>
            <a:off x="274320" y="3858768"/>
            <a:ext cx="8595360" cy="0"/>
          </a:xfrm>
          <a:prstGeom prst="roundRect">
            <a:avLst>
              <a:gd name="adj" fmla="val Infinity"/>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9" name="Shape 5"/>
          <p:cNvSpPr/>
          <p:nvPr/>
        </p:nvSpPr>
        <p:spPr>
          <a:xfrm>
            <a:off x="274320" y="3822192"/>
            <a:ext cx="8595360" cy="1097280"/>
          </a:xfrm>
          <a:prstGeom prst="roundRect">
            <a:avLst>
              <a:gd name="adj" fmla="val 833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0" name="Text 6"/>
          <p:cNvSpPr/>
          <p:nvPr/>
        </p:nvSpPr>
        <p:spPr>
          <a:xfrm>
            <a:off x="457200" y="3858768"/>
            <a:ext cx="8229600" cy="310896"/>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Phase 1 (Ep 0–2):  </a:t>
            </a:r>
            <a:pPr indent="0" marL="0">
              <a:buNone/>
            </a:pPr>
            <a:r>
              <a:rPr lang="en-US" sz="1100" dirty="0">
                <a:solidFill>
                  <a:srgbClr val="1C1C1C"/>
                </a:solidFill>
                <a:latin typeface="Calibri" pitchFamily="34" charset="0"/>
                <a:ea typeface="Calibri" pitchFamily="34" charset="-122"/>
                <a:cs typeface="Calibri" pitchFamily="34" charset="-120"/>
              </a:rPr>
              <a:t>Rapid descent — total loss 3.4→1.6. Fast CNN feature learning; ClinicalBERT pre-trained, needs minimal adaptation.</a:t>
            </a:r>
            <a:endParaRPr lang="en-US" sz="1100" dirty="0"/>
          </a:p>
        </p:txBody>
      </p:sp>
      <p:sp>
        <p:nvSpPr>
          <p:cNvPr id="11" name="Text 7"/>
          <p:cNvSpPr/>
          <p:nvPr/>
        </p:nvSpPr>
        <p:spPr>
          <a:xfrm>
            <a:off x="457200" y="4187952"/>
            <a:ext cx="8229600" cy="310896"/>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Phase 2 (Ep 2–9):  </a:t>
            </a:r>
            <a:pPr indent="0" marL="0">
              <a:buNone/>
            </a:pPr>
            <a:r>
              <a:rPr lang="en-US" sz="1100" dirty="0">
                <a:solidFill>
                  <a:srgbClr val="1C1C1C"/>
                </a:solidFill>
                <a:latin typeface="Calibri" pitchFamily="34" charset="0"/>
                <a:ea typeface="Calibri" pitchFamily="34" charset="-122"/>
                <a:cs typeface="Calibri" pitchFamily="34" charset="-120"/>
              </a:rPr>
              <a:t>Stable refinement — cosine annealing reduces LR; model fine-tunes boundaries and rare linguistic patterns.</a:t>
            </a:r>
            <a:endParaRPr lang="en-US" sz="1100" dirty="0"/>
          </a:p>
        </p:txBody>
      </p:sp>
      <p:sp>
        <p:nvSpPr>
          <p:cNvPr id="12" name="Text 8"/>
          <p:cNvSpPr/>
          <p:nvPr/>
        </p:nvSpPr>
        <p:spPr>
          <a:xfrm>
            <a:off x="457200" y="4517136"/>
            <a:ext cx="8229600" cy="310896"/>
          </a:xfrm>
          <a:prstGeom prst="rect">
            <a:avLst/>
          </a:prstGeom>
          <a:noFill/>
          <a:ln/>
        </p:spPr>
        <p:txBody>
          <a:bodyPr wrap="square" rtlCol="0" anchor="ctr"/>
          <a:lstStyle/>
          <a:p>
            <a:pPr indent="0" marL="0">
              <a:buNone/>
            </a:pPr>
            <a:r>
              <a:rPr lang="en-US" sz="1100" b="1" dirty="0">
                <a:solidFill>
                  <a:srgbClr val="1A6B3C"/>
                </a:solidFill>
                <a:latin typeface="Calibri" pitchFamily="34" charset="0"/>
                <a:ea typeface="Calibri" pitchFamily="34" charset="-122"/>
                <a:cs typeface="Calibri" pitchFamily="34" charset="-120"/>
              </a:rPr>
              <a:t>Epoch 1 Dice Dip:  </a:t>
            </a:r>
            <a:pPr indent="0" marL="0">
              <a:buNone/>
            </a:pPr>
            <a:r>
              <a:rPr lang="en-US" sz="1100" dirty="0">
                <a:solidFill>
                  <a:srgbClr val="1C1C1C"/>
                </a:solidFill>
                <a:latin typeface="Calibri" pitchFamily="34" charset="0"/>
                <a:ea typeface="Calibri" pitchFamily="34" charset="-122"/>
                <a:cs typeface="Calibri" pitchFamily="34" charset="-120"/>
              </a:rPr>
              <a:t>Gradient interference — generation loss (≈5.4) temporarily dominates, misaligning bottleneck. Alignment loss re-corrects by Epoch 2–4.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Results – Quantitative Evaluation</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04672"/>
            <a:ext cx="26060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274320" y="1005840"/>
            <a:ext cx="2606040" cy="822960"/>
          </a:xfrm>
          <a:prstGeom prst="rect">
            <a:avLst/>
          </a:prstGeom>
          <a:noFill/>
          <a:ln/>
        </p:spPr>
        <p:txBody>
          <a:bodyPr wrap="square" rtlCol="0" anchor="ctr"/>
          <a:lstStyle/>
          <a:p>
            <a:pPr algn="ctr" indent="0" marL="0">
              <a:buNone/>
            </a:pPr>
            <a:r>
              <a:rPr lang="en-US" sz="3600" b="1" dirty="0">
                <a:solidFill>
                  <a:srgbClr val="1A6B3C"/>
                </a:solidFill>
                <a:latin typeface="Calibri" pitchFamily="34" charset="0"/>
                <a:ea typeface="Calibri" pitchFamily="34" charset="-122"/>
                <a:cs typeface="Calibri" pitchFamily="34" charset="-120"/>
              </a:rPr>
              <a:t>1.0000</a:t>
            </a:r>
            <a:endParaRPr lang="en-US" sz="3600" dirty="0"/>
          </a:p>
        </p:txBody>
      </p:sp>
      <p:sp>
        <p:nvSpPr>
          <p:cNvPr id="6" name="Text 4"/>
          <p:cNvSpPr/>
          <p:nvPr/>
        </p:nvSpPr>
        <p:spPr>
          <a:xfrm>
            <a:off x="274320" y="1810512"/>
            <a:ext cx="2606040" cy="320040"/>
          </a:xfrm>
          <a:prstGeom prst="rect">
            <a:avLst/>
          </a:prstGeom>
          <a:noFill/>
          <a:ln/>
        </p:spPr>
        <p:txBody>
          <a:bodyPr wrap="square"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Mean Dice</a:t>
            </a:r>
            <a:endParaRPr lang="en-US" sz="1200" dirty="0"/>
          </a:p>
        </p:txBody>
      </p:sp>
      <p:sp>
        <p:nvSpPr>
          <p:cNvPr id="7" name="Text 5"/>
          <p:cNvSpPr/>
          <p:nvPr/>
        </p:nvSpPr>
        <p:spPr>
          <a:xfrm>
            <a:off x="274320" y="2103120"/>
            <a:ext cx="2606040" cy="256032"/>
          </a:xfrm>
          <a:prstGeom prst="rect">
            <a:avLst/>
          </a:prstGeom>
          <a:noFill/>
          <a:ln/>
        </p:spPr>
        <p:txBody>
          <a:bodyPr wrap="square" rtlCol="0" anchor="ctr"/>
          <a:lstStyle/>
          <a:p>
            <a:pPr algn="ctr" indent="0" marL="0">
              <a:buNone/>
            </a:pPr>
            <a:r>
              <a:rPr lang="en-US" sz="1000" dirty="0">
                <a:solidFill>
                  <a:srgbClr val="4A6741"/>
                </a:solidFill>
                <a:latin typeface="Calibri" pitchFamily="34" charset="0"/>
                <a:ea typeface="Calibri" pitchFamily="34" charset="-122"/>
                <a:cs typeface="Calibri" pitchFamily="34" charset="-120"/>
              </a:rPr>
              <a:t>Perfect overlap</a:t>
            </a:r>
            <a:endParaRPr lang="en-US" sz="1000" dirty="0"/>
          </a:p>
        </p:txBody>
      </p:sp>
      <p:sp>
        <p:nvSpPr>
          <p:cNvPr id="8" name="Shape 6"/>
          <p:cNvSpPr/>
          <p:nvPr/>
        </p:nvSpPr>
        <p:spPr>
          <a:xfrm>
            <a:off x="3154680" y="804672"/>
            <a:ext cx="26060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3154680" y="1005840"/>
            <a:ext cx="2606040" cy="822960"/>
          </a:xfrm>
          <a:prstGeom prst="rect">
            <a:avLst/>
          </a:prstGeom>
          <a:noFill/>
          <a:ln/>
        </p:spPr>
        <p:txBody>
          <a:bodyPr wrap="square" rtlCol="0" anchor="ctr"/>
          <a:lstStyle/>
          <a:p>
            <a:pPr algn="ctr" indent="0" marL="0">
              <a:buNone/>
            </a:pPr>
            <a:r>
              <a:rPr lang="en-US" sz="3600" b="1" dirty="0">
                <a:solidFill>
                  <a:srgbClr val="1A6B3C"/>
                </a:solidFill>
                <a:latin typeface="Calibri" pitchFamily="34" charset="0"/>
                <a:ea typeface="Calibri" pitchFamily="34" charset="-122"/>
                <a:cs typeface="Calibri" pitchFamily="34" charset="-120"/>
              </a:rPr>
              <a:t>1.0000</a:t>
            </a:r>
            <a:endParaRPr lang="en-US" sz="3600" dirty="0"/>
          </a:p>
        </p:txBody>
      </p:sp>
      <p:sp>
        <p:nvSpPr>
          <p:cNvPr id="10" name="Text 8"/>
          <p:cNvSpPr/>
          <p:nvPr/>
        </p:nvSpPr>
        <p:spPr>
          <a:xfrm>
            <a:off x="3154680" y="1810512"/>
            <a:ext cx="2606040" cy="320040"/>
          </a:xfrm>
          <a:prstGeom prst="rect">
            <a:avLst/>
          </a:prstGeom>
          <a:noFill/>
          <a:ln/>
        </p:spPr>
        <p:txBody>
          <a:bodyPr wrap="square"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Mean IoU</a:t>
            </a:r>
            <a:endParaRPr lang="en-US" sz="1200" dirty="0"/>
          </a:p>
        </p:txBody>
      </p:sp>
      <p:sp>
        <p:nvSpPr>
          <p:cNvPr id="11" name="Text 9"/>
          <p:cNvSpPr/>
          <p:nvPr/>
        </p:nvSpPr>
        <p:spPr>
          <a:xfrm>
            <a:off x="3154680" y="2103120"/>
            <a:ext cx="2606040" cy="256032"/>
          </a:xfrm>
          <a:prstGeom prst="rect">
            <a:avLst/>
          </a:prstGeom>
          <a:noFill/>
          <a:ln/>
        </p:spPr>
        <p:txBody>
          <a:bodyPr wrap="square" rtlCol="0" anchor="ctr"/>
          <a:lstStyle/>
          <a:p>
            <a:pPr algn="ctr" indent="0" marL="0">
              <a:buNone/>
            </a:pPr>
            <a:r>
              <a:rPr lang="en-US" sz="1000" dirty="0">
                <a:solidFill>
                  <a:srgbClr val="4A6741"/>
                </a:solidFill>
                <a:latin typeface="Calibri" pitchFamily="34" charset="0"/>
                <a:ea typeface="Calibri" pitchFamily="34" charset="-122"/>
                <a:cs typeface="Calibri" pitchFamily="34" charset="-120"/>
              </a:rPr>
              <a:t>Perfect intersection</a:t>
            </a:r>
            <a:endParaRPr lang="en-US" sz="1000" dirty="0"/>
          </a:p>
        </p:txBody>
      </p:sp>
      <p:sp>
        <p:nvSpPr>
          <p:cNvPr id="12" name="Shape 10"/>
          <p:cNvSpPr/>
          <p:nvPr/>
        </p:nvSpPr>
        <p:spPr>
          <a:xfrm>
            <a:off x="6035040" y="804672"/>
            <a:ext cx="260604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3" name="Text 11"/>
          <p:cNvSpPr/>
          <p:nvPr/>
        </p:nvSpPr>
        <p:spPr>
          <a:xfrm>
            <a:off x="6035040" y="1005840"/>
            <a:ext cx="2606040" cy="822960"/>
          </a:xfrm>
          <a:prstGeom prst="rect">
            <a:avLst/>
          </a:prstGeom>
          <a:noFill/>
          <a:ln/>
        </p:spPr>
        <p:txBody>
          <a:bodyPr wrap="square" rtlCol="0" anchor="ctr"/>
          <a:lstStyle/>
          <a:p>
            <a:pPr algn="ctr" indent="0" marL="0">
              <a:buNone/>
            </a:pPr>
            <a:r>
              <a:rPr lang="en-US" sz="3600" b="1" dirty="0">
                <a:solidFill>
                  <a:srgbClr val="1A6B3C"/>
                </a:solidFill>
                <a:latin typeface="Calibri" pitchFamily="34" charset="0"/>
                <a:ea typeface="Calibri" pitchFamily="34" charset="-122"/>
                <a:cs typeface="Calibri" pitchFamily="34" charset="-120"/>
              </a:rPr>
              <a:t>0.0000</a:t>
            </a:r>
            <a:endParaRPr lang="en-US" sz="3600" dirty="0"/>
          </a:p>
        </p:txBody>
      </p:sp>
      <p:sp>
        <p:nvSpPr>
          <p:cNvPr id="14" name="Text 12"/>
          <p:cNvSpPr/>
          <p:nvPr/>
        </p:nvSpPr>
        <p:spPr>
          <a:xfrm>
            <a:off x="6035040" y="1810512"/>
            <a:ext cx="2606040" cy="320040"/>
          </a:xfrm>
          <a:prstGeom prst="rect">
            <a:avLst/>
          </a:prstGeom>
          <a:noFill/>
          <a:ln/>
        </p:spPr>
        <p:txBody>
          <a:bodyPr wrap="square"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Hausdorff Dist.</a:t>
            </a:r>
            <a:endParaRPr lang="en-US" sz="1200" dirty="0"/>
          </a:p>
        </p:txBody>
      </p:sp>
      <p:sp>
        <p:nvSpPr>
          <p:cNvPr id="15" name="Text 13"/>
          <p:cNvSpPr/>
          <p:nvPr/>
        </p:nvSpPr>
        <p:spPr>
          <a:xfrm>
            <a:off x="6035040" y="2103120"/>
            <a:ext cx="2606040" cy="256032"/>
          </a:xfrm>
          <a:prstGeom prst="rect">
            <a:avLst/>
          </a:prstGeom>
          <a:noFill/>
          <a:ln/>
        </p:spPr>
        <p:txBody>
          <a:bodyPr wrap="square" rtlCol="0" anchor="ctr"/>
          <a:lstStyle/>
          <a:p>
            <a:pPr algn="ctr" indent="0" marL="0">
              <a:buNone/>
            </a:pPr>
            <a:r>
              <a:rPr lang="en-US" sz="1000" dirty="0">
                <a:solidFill>
                  <a:srgbClr val="4A6741"/>
                </a:solidFill>
                <a:latin typeface="Calibri" pitchFamily="34" charset="0"/>
                <a:ea typeface="Calibri" pitchFamily="34" charset="-122"/>
                <a:cs typeface="Calibri" pitchFamily="34" charset="-120"/>
              </a:rPr>
              <a:t>Exact boundary match</a:t>
            </a:r>
            <a:endParaRPr lang="en-US" sz="1000" dirty="0"/>
          </a:p>
        </p:txBody>
      </p:sp>
      <p:sp>
        <p:nvSpPr>
          <p:cNvPr id="16" name="Shape 14"/>
          <p:cNvSpPr/>
          <p:nvPr/>
        </p:nvSpPr>
        <p:spPr>
          <a:xfrm>
            <a:off x="274320" y="2697480"/>
            <a:ext cx="2606040" cy="1691640"/>
          </a:xfrm>
          <a:prstGeom prst="roundRect">
            <a:avLst>
              <a:gd name="adj" fmla="val 5405"/>
            </a:avLst>
          </a:prstGeom>
          <a:solidFill>
            <a:srgbClr val="E8F5E9"/>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7" name="Text 15"/>
          <p:cNvSpPr/>
          <p:nvPr/>
        </p:nvSpPr>
        <p:spPr>
          <a:xfrm>
            <a:off x="274320" y="2898648"/>
            <a:ext cx="2606040" cy="822960"/>
          </a:xfrm>
          <a:prstGeom prst="rect">
            <a:avLst/>
          </a:prstGeom>
          <a:noFill/>
          <a:ln/>
        </p:spPr>
        <p:txBody>
          <a:bodyPr wrap="square" rtlCol="0" anchor="ctr"/>
          <a:lstStyle/>
          <a:p>
            <a:pPr algn="ctr" indent="0" marL="0">
              <a:buNone/>
            </a:pPr>
            <a:r>
              <a:rPr lang="en-US" sz="3600" b="1" dirty="0">
                <a:solidFill>
                  <a:srgbClr val="1A6B3C"/>
                </a:solidFill>
                <a:latin typeface="Calibri" pitchFamily="34" charset="0"/>
                <a:ea typeface="Calibri" pitchFamily="34" charset="-122"/>
                <a:cs typeface="Calibri" pitchFamily="34" charset="-120"/>
              </a:rPr>
              <a:t>0.5219</a:t>
            </a:r>
            <a:endParaRPr lang="en-US" sz="3600" dirty="0"/>
          </a:p>
        </p:txBody>
      </p:sp>
      <p:sp>
        <p:nvSpPr>
          <p:cNvPr id="18" name="Text 16"/>
          <p:cNvSpPr/>
          <p:nvPr/>
        </p:nvSpPr>
        <p:spPr>
          <a:xfrm>
            <a:off x="274320" y="3703320"/>
            <a:ext cx="2606040" cy="320040"/>
          </a:xfrm>
          <a:prstGeom prst="rect">
            <a:avLst/>
          </a:prstGeom>
          <a:noFill/>
          <a:ln/>
        </p:spPr>
        <p:txBody>
          <a:bodyPr wrap="square"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ROUGE-1</a:t>
            </a:r>
            <a:endParaRPr lang="en-US" sz="1200" dirty="0"/>
          </a:p>
        </p:txBody>
      </p:sp>
      <p:sp>
        <p:nvSpPr>
          <p:cNvPr id="19" name="Text 17"/>
          <p:cNvSpPr/>
          <p:nvPr/>
        </p:nvSpPr>
        <p:spPr>
          <a:xfrm>
            <a:off x="274320" y="3995928"/>
            <a:ext cx="2606040" cy="256032"/>
          </a:xfrm>
          <a:prstGeom prst="rect">
            <a:avLst/>
          </a:prstGeom>
          <a:noFill/>
          <a:ln/>
        </p:spPr>
        <p:txBody>
          <a:bodyPr wrap="square" rtlCol="0" anchor="ctr"/>
          <a:lstStyle/>
          <a:p>
            <a:pPr algn="ctr" indent="0" marL="0">
              <a:buNone/>
            </a:pPr>
            <a:r>
              <a:rPr lang="en-US" sz="1000" dirty="0">
                <a:solidFill>
                  <a:srgbClr val="4A6741"/>
                </a:solidFill>
                <a:latin typeface="Calibri" pitchFamily="34" charset="0"/>
                <a:ea typeface="Calibri" pitchFamily="34" charset="-122"/>
                <a:cs typeface="Calibri" pitchFamily="34" charset="-120"/>
              </a:rPr>
              <a:t>Unigram recall</a:t>
            </a:r>
            <a:endParaRPr lang="en-US" sz="1000" dirty="0"/>
          </a:p>
        </p:txBody>
      </p:sp>
      <p:sp>
        <p:nvSpPr>
          <p:cNvPr id="20" name="Shape 18"/>
          <p:cNvSpPr/>
          <p:nvPr/>
        </p:nvSpPr>
        <p:spPr>
          <a:xfrm>
            <a:off x="3154680" y="2697480"/>
            <a:ext cx="2606040" cy="1691640"/>
          </a:xfrm>
          <a:prstGeom prst="roundRect">
            <a:avLst>
              <a:gd name="adj" fmla="val 5405"/>
            </a:avLst>
          </a:prstGeom>
          <a:solidFill>
            <a:srgbClr val="E8F5E9"/>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1" name="Text 19"/>
          <p:cNvSpPr/>
          <p:nvPr/>
        </p:nvSpPr>
        <p:spPr>
          <a:xfrm>
            <a:off x="3154680" y="2898648"/>
            <a:ext cx="2606040" cy="822960"/>
          </a:xfrm>
          <a:prstGeom prst="rect">
            <a:avLst/>
          </a:prstGeom>
          <a:noFill/>
          <a:ln/>
        </p:spPr>
        <p:txBody>
          <a:bodyPr wrap="square" rtlCol="0" anchor="ctr"/>
          <a:lstStyle/>
          <a:p>
            <a:pPr algn="ctr" indent="0" marL="0">
              <a:buNone/>
            </a:pPr>
            <a:r>
              <a:rPr lang="en-US" sz="3600" b="1" dirty="0">
                <a:solidFill>
                  <a:srgbClr val="1A6B3C"/>
                </a:solidFill>
                <a:latin typeface="Calibri" pitchFamily="34" charset="0"/>
                <a:ea typeface="Calibri" pitchFamily="34" charset="-122"/>
                <a:cs typeface="Calibri" pitchFamily="34" charset="-120"/>
              </a:rPr>
              <a:t>0.4245</a:t>
            </a:r>
            <a:endParaRPr lang="en-US" sz="3600" dirty="0"/>
          </a:p>
        </p:txBody>
      </p:sp>
      <p:sp>
        <p:nvSpPr>
          <p:cNvPr id="22" name="Text 20"/>
          <p:cNvSpPr/>
          <p:nvPr/>
        </p:nvSpPr>
        <p:spPr>
          <a:xfrm>
            <a:off x="3154680" y="3703320"/>
            <a:ext cx="2606040" cy="320040"/>
          </a:xfrm>
          <a:prstGeom prst="rect">
            <a:avLst/>
          </a:prstGeom>
          <a:noFill/>
          <a:ln/>
        </p:spPr>
        <p:txBody>
          <a:bodyPr wrap="square"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ROUGE-L</a:t>
            </a:r>
            <a:endParaRPr lang="en-US" sz="1200" dirty="0"/>
          </a:p>
        </p:txBody>
      </p:sp>
      <p:sp>
        <p:nvSpPr>
          <p:cNvPr id="23" name="Text 21"/>
          <p:cNvSpPr/>
          <p:nvPr/>
        </p:nvSpPr>
        <p:spPr>
          <a:xfrm>
            <a:off x="3154680" y="3995928"/>
            <a:ext cx="2606040" cy="256032"/>
          </a:xfrm>
          <a:prstGeom prst="rect">
            <a:avLst/>
          </a:prstGeom>
          <a:noFill/>
          <a:ln/>
        </p:spPr>
        <p:txBody>
          <a:bodyPr wrap="square" rtlCol="0" anchor="ctr"/>
          <a:lstStyle/>
          <a:p>
            <a:pPr algn="ctr" indent="0" marL="0">
              <a:buNone/>
            </a:pPr>
            <a:r>
              <a:rPr lang="en-US" sz="1000" dirty="0">
                <a:solidFill>
                  <a:srgbClr val="4A6741"/>
                </a:solidFill>
                <a:latin typeface="Calibri" pitchFamily="34" charset="0"/>
                <a:ea typeface="Calibri" pitchFamily="34" charset="-122"/>
                <a:cs typeface="Calibri" pitchFamily="34" charset="-120"/>
              </a:rPr>
              <a:t>Structural similarity</a:t>
            </a:r>
            <a:endParaRPr lang="en-US" sz="1000" dirty="0"/>
          </a:p>
        </p:txBody>
      </p:sp>
      <p:sp>
        <p:nvSpPr>
          <p:cNvPr id="24" name="Shape 22"/>
          <p:cNvSpPr/>
          <p:nvPr/>
        </p:nvSpPr>
        <p:spPr>
          <a:xfrm>
            <a:off x="6035040" y="2697480"/>
            <a:ext cx="2606040" cy="1691640"/>
          </a:xfrm>
          <a:prstGeom prst="roundRect">
            <a:avLst>
              <a:gd name="adj" fmla="val 5405"/>
            </a:avLst>
          </a:prstGeom>
          <a:solidFill>
            <a:srgbClr val="E8F5E9"/>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5" name="Text 23"/>
          <p:cNvSpPr/>
          <p:nvPr/>
        </p:nvSpPr>
        <p:spPr>
          <a:xfrm>
            <a:off x="6035040" y="2898648"/>
            <a:ext cx="2606040" cy="822960"/>
          </a:xfrm>
          <a:prstGeom prst="rect">
            <a:avLst/>
          </a:prstGeom>
          <a:noFill/>
          <a:ln/>
        </p:spPr>
        <p:txBody>
          <a:bodyPr wrap="square" rtlCol="0" anchor="ctr"/>
          <a:lstStyle/>
          <a:p>
            <a:pPr algn="ctr" indent="0" marL="0">
              <a:buNone/>
            </a:pPr>
            <a:r>
              <a:rPr lang="en-US" sz="3600" b="1" dirty="0">
                <a:solidFill>
                  <a:srgbClr val="1A6B3C"/>
                </a:solidFill>
                <a:latin typeface="Calibri" pitchFamily="34" charset="0"/>
                <a:ea typeface="Calibri" pitchFamily="34" charset="-122"/>
                <a:cs typeface="Calibri" pitchFamily="34" charset="-120"/>
              </a:rPr>
              <a:t>0.1394</a:t>
            </a:r>
            <a:endParaRPr lang="en-US" sz="3600" dirty="0"/>
          </a:p>
        </p:txBody>
      </p:sp>
      <p:sp>
        <p:nvSpPr>
          <p:cNvPr id="26" name="Text 24"/>
          <p:cNvSpPr/>
          <p:nvPr/>
        </p:nvSpPr>
        <p:spPr>
          <a:xfrm>
            <a:off x="6035040" y="3703320"/>
            <a:ext cx="2606040" cy="320040"/>
          </a:xfrm>
          <a:prstGeom prst="rect">
            <a:avLst/>
          </a:prstGeom>
          <a:noFill/>
          <a:ln/>
        </p:spPr>
        <p:txBody>
          <a:bodyPr wrap="square" rtlCol="0" anchor="ctr"/>
          <a:lstStyle/>
          <a:p>
            <a:pPr algn="ctr" indent="0" marL="0">
              <a:buNone/>
            </a:pPr>
            <a:r>
              <a:rPr lang="en-US" sz="1200" b="1" dirty="0">
                <a:solidFill>
                  <a:srgbClr val="2E8B57"/>
                </a:solidFill>
                <a:latin typeface="Calibri" pitchFamily="34" charset="0"/>
                <a:ea typeface="Calibri" pitchFamily="34" charset="-122"/>
                <a:cs typeface="Calibri" pitchFamily="34" charset="-120"/>
              </a:rPr>
              <a:t>BLEU</a:t>
            </a:r>
            <a:endParaRPr lang="en-US" sz="1200" dirty="0"/>
          </a:p>
        </p:txBody>
      </p:sp>
      <p:sp>
        <p:nvSpPr>
          <p:cNvPr id="27" name="Text 25"/>
          <p:cNvSpPr/>
          <p:nvPr/>
        </p:nvSpPr>
        <p:spPr>
          <a:xfrm>
            <a:off x="6035040" y="3995928"/>
            <a:ext cx="2606040" cy="256032"/>
          </a:xfrm>
          <a:prstGeom prst="rect">
            <a:avLst/>
          </a:prstGeom>
          <a:noFill/>
          <a:ln/>
        </p:spPr>
        <p:txBody>
          <a:bodyPr wrap="square" rtlCol="0" anchor="ctr"/>
          <a:lstStyle/>
          <a:p>
            <a:pPr algn="ctr" indent="0" marL="0">
              <a:buNone/>
            </a:pPr>
            <a:r>
              <a:rPr lang="en-US" sz="1000" dirty="0">
                <a:solidFill>
                  <a:srgbClr val="4A6741"/>
                </a:solidFill>
                <a:latin typeface="Calibri" pitchFamily="34" charset="0"/>
                <a:ea typeface="Calibri" pitchFamily="34" charset="-122"/>
                <a:cs typeface="Calibri" pitchFamily="34" charset="-120"/>
              </a:rPr>
              <a:t>N-gram precision</a:t>
            </a:r>
            <a:endParaRPr lang="en-US" sz="1000" dirty="0"/>
          </a:p>
        </p:txBody>
      </p:sp>
      <p:graphicFrame>
        <p:nvGraphicFramePr>
          <p:cNvPr id="28" name="Chart 0" descr=""/>
          <p:cNvGraphicFramePr/>
          <p:nvPr/>
        </p:nvGraphicFramePr>
        <p:xfrm>
          <a:off x="274320" y="4462272"/>
          <a:ext cx="8595360" cy="594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Ablation Study – Role of the Linguistic Prior</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2011680"/>
        </p:xfrm>
        <a:graphic>
          <a:graphicData uri="http://schemas.openxmlformats.org/drawingml/2006/table">
            <a:tbl>
              <a:tblPr/>
              <a:tblGrid>
                <a:gridCol w="2194560"/>
                <a:gridCol w="2011680"/>
                <a:gridCol w="2286000"/>
                <a:gridCol w="19202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VLM-UNet (Full)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UNet Only (No Text)</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1A6B3C"/>
                    </a:solidFill>
                  </a:tcPr>
                </a:tc>
              </a:tr>
              <a:tr h="402336">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Dice Score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b="1" dirty="0">
                          <a:solidFill>
                            <a:srgbClr val="1A6B3C"/>
                          </a:solidFill>
                          <a:latin typeface="Calibri" pitchFamily="34" charset="0"/>
                          <a:ea typeface="Calibri" pitchFamily="34" charset="-122"/>
                          <a:cs typeface="Calibri" pitchFamily="34" charset="-120"/>
                        </a:rPr>
                        <a:t>0.9991</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0.92 – 0.94</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+5–7% Dice gain</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402336">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False Positives</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Minimal</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Elevated</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Boundary confusion</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402336">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Small Lesion Detection</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Weak</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Necrotic cores missed</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r h="402336">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Report Generation</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b="1" dirty="0">
                          <a:solidFill>
                            <a:srgbClr val="1A6B3C"/>
                          </a:solidFill>
                          <a:latin typeface="Calibri" pitchFamily="34" charset="0"/>
                          <a:ea typeface="Calibri" pitchFamily="34" charset="-122"/>
                          <a:cs typeface="Calibri" pitchFamily="34" charset="-120"/>
                        </a:rPr>
                        <a:t>✓ Available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b="1" dirty="0">
                          <a:solidFill>
                            <a:srgbClr val="CC0000"/>
                          </a:solidFill>
                          <a:latin typeface="Calibri" pitchFamily="34" charset="0"/>
                          <a:ea typeface="Calibri" pitchFamily="34" charset="-122"/>
                          <a:cs typeface="Calibri" pitchFamily="34" charset="-120"/>
                        </a:rPr>
                        <a:t>✗ Not available</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c>
                  <a:txBody>
                    <a:bodyPr/>
                    <a:lstStyle/>
                    <a:p>
                      <a:pPr indent="0" marL="0">
                        <a:buNone/>
                      </a:pPr>
                      <a:r>
                        <a:rPr lang="en-US" sz="1200" dirty="0">
                          <a:solidFill>
                            <a:srgbClr val="1C1C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A8D5B5"/>
                      </a:solidFill>
                      <a:prstDash val="solid"/>
                      <a:round/>
                      <a:headEnd type="none" w="med" len="med"/>
                      <a:tailEnd type="none" w="med" len="med"/>
                    </a:lnL>
                    <a:lnR w="12700" cap="flat" cmpd="sng" algn="ctr">
                      <a:solidFill>
                        <a:srgbClr val="A8D5B5"/>
                      </a:solidFill>
                      <a:prstDash val="solid"/>
                      <a:round/>
                      <a:headEnd type="none" w="med" len="med"/>
                      <a:tailEnd type="none" w="med" len="med"/>
                    </a:lnR>
                    <a:lnT w="12700" cap="flat" cmpd="sng" algn="ctr">
                      <a:solidFill>
                        <a:srgbClr val="A8D5B5"/>
                      </a:solidFill>
                      <a:prstDash val="solid"/>
                      <a:round/>
                      <a:headEnd type="none" w="med" len="med"/>
                      <a:tailEnd type="none" w="med" len="med"/>
                    </a:lnT>
                    <a:lnB w="12700" cap="flat" cmpd="sng" algn="ctr">
                      <a:solidFill>
                        <a:srgbClr val="A8D5B5"/>
                      </a:solidFill>
                      <a:prstDash val="solid"/>
                      <a:round/>
                      <a:headEnd type="none" w="med" len="med"/>
                      <a:tailEnd type="none" w="med" len="med"/>
                    </a:lnB>
                    <a:solidFill>
                      <a:srgbClr val="EAF7EE"/>
                    </a:solidFill>
                  </a:tcPr>
                </a:tc>
              </a:tr>
            </a:tbl>
          </a:graphicData>
        </a:graphic>
      </p:graphicFrame>
      <p:sp>
        <p:nvSpPr>
          <p:cNvPr id="5" name="Text 2"/>
          <p:cNvSpPr/>
          <p:nvPr/>
        </p:nvSpPr>
        <p:spPr>
          <a:xfrm>
            <a:off x="365760" y="2926080"/>
            <a:ext cx="841248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Failure Modes Without Language Prior</a:t>
            </a:r>
            <a:endParaRPr lang="en-US" sz="1300" dirty="0"/>
          </a:p>
        </p:txBody>
      </p:sp>
      <p:sp>
        <p:nvSpPr>
          <p:cNvPr id="6" name="Shape 3"/>
          <p:cNvSpPr/>
          <p:nvPr/>
        </p:nvSpPr>
        <p:spPr>
          <a:xfrm>
            <a:off x="365760" y="3337560"/>
            <a:ext cx="4069080" cy="1417320"/>
          </a:xfrm>
          <a:prstGeom prst="roundRect">
            <a:avLst>
              <a:gd name="adj" fmla="val 6452"/>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7" name="Text 4"/>
          <p:cNvSpPr/>
          <p:nvPr/>
        </p:nvSpPr>
        <p:spPr>
          <a:xfrm>
            <a:off x="502920" y="3401568"/>
            <a:ext cx="3749040" cy="320040"/>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  Boundary Ambiguity</a:t>
            </a:r>
            <a:endParaRPr lang="en-US" sz="1200" dirty="0"/>
          </a:p>
        </p:txBody>
      </p:sp>
      <p:sp>
        <p:nvSpPr>
          <p:cNvPr id="8" name="Text 5"/>
          <p:cNvSpPr/>
          <p:nvPr/>
        </p:nvSpPr>
        <p:spPr>
          <a:xfrm>
            <a:off x="502920" y="3749040"/>
            <a:ext cx="3749040" cy="91440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Peritumoral edema has similar FLAIR signal to normal white matter. Without text cues (e.g., 'well-defined margin'), model under-segments at edges, reducing Dice by 5–7%.</a:t>
            </a:r>
            <a:endParaRPr lang="en-US" sz="1100" dirty="0"/>
          </a:p>
        </p:txBody>
      </p:sp>
      <p:sp>
        <p:nvSpPr>
          <p:cNvPr id="9" name="Shape 6"/>
          <p:cNvSpPr/>
          <p:nvPr/>
        </p:nvSpPr>
        <p:spPr>
          <a:xfrm>
            <a:off x="4663440" y="3337560"/>
            <a:ext cx="4069080" cy="1417320"/>
          </a:xfrm>
          <a:prstGeom prst="roundRect">
            <a:avLst>
              <a:gd name="adj" fmla="val 6452"/>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0" name="Text 7"/>
          <p:cNvSpPr/>
          <p:nvPr/>
        </p:nvSpPr>
        <p:spPr>
          <a:xfrm>
            <a:off x="4800600" y="3401568"/>
            <a:ext cx="3749040" cy="320040"/>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  Small Necrotic Core Detection</a:t>
            </a:r>
            <a:endParaRPr lang="en-US" sz="1200" dirty="0"/>
          </a:p>
        </p:txBody>
      </p:sp>
      <p:sp>
        <p:nvSpPr>
          <p:cNvPr id="11" name="Text 8"/>
          <p:cNvSpPr/>
          <p:nvPr/>
        </p:nvSpPr>
        <p:spPr>
          <a:xfrm>
            <a:off x="4800600" y="3749040"/>
            <a:ext cx="3749040" cy="91440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Central hypointense necrotic cores are confused with normal structures (sulci, ventricles). Text prior ('central necrosis') guides the model to look within an enhancing mass.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Qualitative Analysis – Attention Heatmap</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Text 2"/>
          <p:cNvSpPr/>
          <p:nvPr/>
        </p:nvSpPr>
        <p:spPr>
          <a:xfrm>
            <a:off x="365760" y="804672"/>
            <a:ext cx="8412480" cy="274320"/>
          </a:xfrm>
          <a:prstGeom prst="rect">
            <a:avLst/>
          </a:prstGeom>
          <a:noFill/>
          <a:ln/>
        </p:spPr>
        <p:txBody>
          <a:bodyPr wrap="square" rtlCol="0" anchor="ctr"/>
          <a:lstStyle/>
          <a:p>
            <a:pPr indent="0" marL="0">
              <a:buNone/>
            </a:pPr>
            <a:r>
              <a:rPr lang="en-US" sz="1150" i="1" dirty="0">
                <a:solidFill>
                  <a:srgbClr val="4A6741"/>
                </a:solidFill>
                <a:latin typeface="Calibri" pitchFamily="34" charset="0"/>
                <a:ea typeface="Calibri" pitchFamily="34" charset="-122"/>
                <a:cs typeface="Calibri" pitchFamily="34" charset="-120"/>
              </a:rPr>
              <a:t>Cross-attention from the fusion bottleneck reveals what the model 'looks at' when guided by clinical language.</a:t>
            </a:r>
            <a:endParaRPr lang="en-US" sz="1150" dirty="0"/>
          </a:p>
        </p:txBody>
      </p:sp>
      <p:sp>
        <p:nvSpPr>
          <p:cNvPr id="5" name="Shape 3"/>
          <p:cNvSpPr/>
          <p:nvPr/>
        </p:nvSpPr>
        <p:spPr>
          <a:xfrm>
            <a:off x="365760" y="1170432"/>
            <a:ext cx="4069080" cy="1737360"/>
          </a:xfrm>
          <a:prstGeom prst="roundRect">
            <a:avLst>
              <a:gd name="adj" fmla="val 526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502920" y="1298448"/>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Tumor Boundary Focus</a:t>
            </a:r>
            <a:endParaRPr lang="en-US" sz="1300" dirty="0"/>
          </a:p>
        </p:txBody>
      </p:sp>
      <p:sp>
        <p:nvSpPr>
          <p:cNvPr id="7" name="Text 5"/>
          <p:cNvSpPr/>
          <p:nvPr/>
        </p:nvSpPr>
        <p:spPr>
          <a:xfrm>
            <a:off x="502920" y="1700784"/>
            <a:ext cx="3749040" cy="1115568"/>
          </a:xfrm>
          <a:prstGeom prst="rect">
            <a:avLst/>
          </a:prstGeom>
          <a:noFill/>
          <a:ln/>
        </p:spPr>
        <p:txBody>
          <a:bodyPr wrap="square" rtlCol="0" anchor="t"/>
          <a:lstStyle/>
          <a:p>
            <a:pPr indent="0" marL="0">
              <a:buNone/>
            </a:pPr>
            <a:r>
              <a:rPr lang="en-US" sz="1150" dirty="0">
                <a:solidFill>
                  <a:srgbClr val="1C1C1C"/>
                </a:solidFill>
                <a:latin typeface="Calibri" pitchFamily="34" charset="0"/>
                <a:ea typeface="Calibri" pitchFamily="34" charset="-122"/>
                <a:cs typeface="Calibri" pitchFamily="34" charset="-120"/>
              </a:rPr>
              <a:t>Highest attention weights (deep orange) concentrate around the tumor boundary and central necrotic core — precisely the regions described in the paired radiology report.</a:t>
            </a:r>
            <a:endParaRPr lang="en-US" sz="1150" dirty="0"/>
          </a:p>
        </p:txBody>
      </p:sp>
      <p:sp>
        <p:nvSpPr>
          <p:cNvPr id="8" name="Shape 6"/>
          <p:cNvSpPr/>
          <p:nvPr/>
        </p:nvSpPr>
        <p:spPr>
          <a:xfrm>
            <a:off x="4663440" y="1170432"/>
            <a:ext cx="4069080" cy="1737360"/>
          </a:xfrm>
          <a:prstGeom prst="roundRect">
            <a:avLst>
              <a:gd name="adj" fmla="val 526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4800600" y="1298448"/>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Lateralization Awareness</a:t>
            </a:r>
            <a:endParaRPr lang="en-US" sz="1300" dirty="0"/>
          </a:p>
        </p:txBody>
      </p:sp>
      <p:sp>
        <p:nvSpPr>
          <p:cNvPr id="10" name="Text 8"/>
          <p:cNvSpPr/>
          <p:nvPr/>
        </p:nvSpPr>
        <p:spPr>
          <a:xfrm>
            <a:off x="4800600" y="1700784"/>
            <a:ext cx="3749040" cy="1115568"/>
          </a:xfrm>
          <a:prstGeom prst="rect">
            <a:avLst/>
          </a:prstGeom>
          <a:noFill/>
          <a:ln/>
        </p:spPr>
        <p:txBody>
          <a:bodyPr wrap="square" rtlCol="0" anchor="t"/>
          <a:lstStyle/>
          <a:p>
            <a:pPr indent="0" marL="0">
              <a:buNone/>
            </a:pPr>
            <a:r>
              <a:rPr lang="en-US" sz="1150" dirty="0">
                <a:solidFill>
                  <a:srgbClr val="1C1C1C"/>
                </a:solidFill>
                <a:latin typeface="Calibri" pitchFamily="34" charset="0"/>
                <a:ea typeface="Calibri" pitchFamily="34" charset="-122"/>
                <a:cs typeface="Calibri" pitchFamily="34" charset="-120"/>
              </a:rPr>
              <a:t>The large orange column on the left edge of the heatmap reflects the model attending to lateralization cues (left vs. right hemisphere), consistent with location descriptions like 'left hemisphere mass' in the report.</a:t>
            </a:r>
            <a:endParaRPr lang="en-US" sz="1150" dirty="0"/>
          </a:p>
        </p:txBody>
      </p:sp>
      <p:sp>
        <p:nvSpPr>
          <p:cNvPr id="11" name="Shape 9"/>
          <p:cNvSpPr/>
          <p:nvPr/>
        </p:nvSpPr>
        <p:spPr>
          <a:xfrm>
            <a:off x="365760" y="3108960"/>
            <a:ext cx="4069080" cy="1737360"/>
          </a:xfrm>
          <a:prstGeom prst="roundRect">
            <a:avLst>
              <a:gd name="adj" fmla="val 526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502920" y="3236976"/>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False-Positive Suppression</a:t>
            </a:r>
            <a:endParaRPr lang="en-US" sz="1300" dirty="0"/>
          </a:p>
        </p:txBody>
      </p:sp>
      <p:sp>
        <p:nvSpPr>
          <p:cNvPr id="13" name="Text 11"/>
          <p:cNvSpPr/>
          <p:nvPr/>
        </p:nvSpPr>
        <p:spPr>
          <a:xfrm>
            <a:off x="502920" y="3639312"/>
            <a:ext cx="3749040" cy="1115568"/>
          </a:xfrm>
          <a:prstGeom prst="rect">
            <a:avLst/>
          </a:prstGeom>
          <a:noFill/>
          <a:ln/>
        </p:spPr>
        <p:txBody>
          <a:bodyPr wrap="square" rtlCol="0" anchor="t"/>
          <a:lstStyle/>
          <a:p>
            <a:pPr indent="0" marL="0">
              <a:buNone/>
            </a:pPr>
            <a:r>
              <a:rPr lang="en-US" sz="1150" dirty="0">
                <a:solidFill>
                  <a:srgbClr val="1C1C1C"/>
                </a:solidFill>
                <a:latin typeface="Calibri" pitchFamily="34" charset="0"/>
                <a:ea typeface="Calibri" pitchFamily="34" charset="-122"/>
                <a:cs typeface="Calibri" pitchFamily="34" charset="-120"/>
              </a:rPr>
              <a:t>Relatively low attention in the tumor-free right hemisphere confirms the model's language-guided ability to suppress false-positive activations in anatomically unlikely regions.</a:t>
            </a:r>
            <a:endParaRPr lang="en-US" sz="1150" dirty="0"/>
          </a:p>
        </p:txBody>
      </p:sp>
      <p:sp>
        <p:nvSpPr>
          <p:cNvPr id="14" name="Shape 12"/>
          <p:cNvSpPr/>
          <p:nvPr/>
        </p:nvSpPr>
        <p:spPr>
          <a:xfrm>
            <a:off x="4663440" y="3108960"/>
            <a:ext cx="4069080" cy="1737360"/>
          </a:xfrm>
          <a:prstGeom prst="roundRect">
            <a:avLst>
              <a:gd name="adj" fmla="val 5263"/>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5" name="Text 13"/>
          <p:cNvSpPr/>
          <p:nvPr/>
        </p:nvSpPr>
        <p:spPr>
          <a:xfrm>
            <a:off x="4800600" y="3236976"/>
            <a:ext cx="3749040" cy="347472"/>
          </a:xfrm>
          <a:prstGeom prst="rect">
            <a:avLst/>
          </a:prstGeom>
          <a:noFill/>
          <a:ln/>
        </p:spPr>
        <p:txBody>
          <a:bodyPr wrap="square"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  Global Context Retention</a:t>
            </a:r>
            <a:endParaRPr lang="en-US" sz="1300" dirty="0"/>
          </a:p>
        </p:txBody>
      </p:sp>
      <p:sp>
        <p:nvSpPr>
          <p:cNvPr id="16" name="Text 14"/>
          <p:cNvSpPr/>
          <p:nvPr/>
        </p:nvSpPr>
        <p:spPr>
          <a:xfrm>
            <a:off x="4800600" y="3639312"/>
            <a:ext cx="3749040" cy="1115568"/>
          </a:xfrm>
          <a:prstGeom prst="rect">
            <a:avLst/>
          </a:prstGeom>
          <a:noFill/>
          <a:ln/>
        </p:spPr>
        <p:txBody>
          <a:bodyPr wrap="square" rtlCol="0" anchor="t"/>
          <a:lstStyle/>
          <a:p>
            <a:pPr indent="0" marL="0">
              <a:buNone/>
            </a:pPr>
            <a:r>
              <a:rPr lang="en-US" sz="1150" dirty="0">
                <a:solidFill>
                  <a:srgbClr val="1C1C1C"/>
                </a:solidFill>
                <a:latin typeface="Calibri" pitchFamily="34" charset="0"/>
                <a:ea typeface="Calibri" pitchFamily="34" charset="-122"/>
                <a:cs typeface="Calibri" pitchFamily="34" charset="-120"/>
              </a:rPr>
              <a:t>Scattered blue patches indicate the model still distributes some weight across global image context — aiding robust, generalised feature extraction beyond the immediate tumor region.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Assumptions, Limitations &amp; Clinical Impact</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22960"/>
            <a:ext cx="411480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411480" y="914400"/>
            <a:ext cx="3749040" cy="320040"/>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  2D Processing</a:t>
            </a:r>
            <a:endParaRPr lang="en-US" sz="1200" dirty="0"/>
          </a:p>
        </p:txBody>
      </p:sp>
      <p:sp>
        <p:nvSpPr>
          <p:cNvPr id="6" name="Text 4"/>
          <p:cNvSpPr/>
          <p:nvPr/>
        </p:nvSpPr>
        <p:spPr>
          <a:xfrm>
            <a:off x="411480" y="1261872"/>
            <a:ext cx="3749040" cy="91440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3D volumetric context lost; slice-by-slice may produce spatially inconsistent masks. Volume estimation errors expected.</a:t>
            </a:r>
            <a:endParaRPr lang="en-US" sz="1100" dirty="0"/>
          </a:p>
        </p:txBody>
      </p:sp>
      <p:sp>
        <p:nvSpPr>
          <p:cNvPr id="7" name="Shape 5"/>
          <p:cNvSpPr/>
          <p:nvPr/>
        </p:nvSpPr>
        <p:spPr>
          <a:xfrm>
            <a:off x="3291840" y="914400"/>
            <a:ext cx="914400" cy="274320"/>
          </a:xfrm>
          <a:prstGeom prst="roundRect">
            <a:avLst>
              <a:gd name="adj" fmla="val 26667"/>
            </a:avLst>
          </a:prstGeom>
          <a:solidFill>
            <a:srgbClr val="2E8B57"/>
          </a:solidFill>
          <a:ln w="12700">
            <a:solidFill>
              <a:srgbClr val="2E8B57"/>
            </a:solidFill>
            <a:prstDash val="solid"/>
          </a:ln>
        </p:spPr>
      </p:sp>
      <p:sp>
        <p:nvSpPr>
          <p:cNvPr id="8" name="Text 6"/>
          <p:cNvSpPr/>
          <p:nvPr/>
        </p:nvSpPr>
        <p:spPr>
          <a:xfrm>
            <a:off x="3291840" y="91440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Moderate</a:t>
            </a:r>
            <a:endParaRPr lang="en-US" sz="850" dirty="0"/>
          </a:p>
        </p:txBody>
      </p:sp>
      <p:sp>
        <p:nvSpPr>
          <p:cNvPr id="9" name="Shape 7"/>
          <p:cNvSpPr/>
          <p:nvPr/>
        </p:nvSpPr>
        <p:spPr>
          <a:xfrm>
            <a:off x="4663440" y="822960"/>
            <a:ext cx="411480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0" name="Text 8"/>
          <p:cNvSpPr/>
          <p:nvPr/>
        </p:nvSpPr>
        <p:spPr>
          <a:xfrm>
            <a:off x="4800600" y="914400"/>
            <a:ext cx="3749040" cy="320040"/>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  Small Dataset (258 slices)</a:t>
            </a:r>
            <a:endParaRPr lang="en-US" sz="1200" dirty="0"/>
          </a:p>
        </p:txBody>
      </p:sp>
      <p:sp>
        <p:nvSpPr>
          <p:cNvPr id="11" name="Text 9"/>
          <p:cNvSpPr/>
          <p:nvPr/>
        </p:nvSpPr>
        <p:spPr>
          <a:xfrm>
            <a:off x="4800600" y="1261872"/>
            <a:ext cx="3749040" cy="91440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Insufficient to generalise to rare subtypes: low-grade gliomas, meningiomas. Test set of 26 may overstate performance.</a:t>
            </a:r>
            <a:endParaRPr lang="en-US" sz="1100" dirty="0"/>
          </a:p>
        </p:txBody>
      </p:sp>
      <p:sp>
        <p:nvSpPr>
          <p:cNvPr id="12" name="Shape 10"/>
          <p:cNvSpPr/>
          <p:nvPr/>
        </p:nvSpPr>
        <p:spPr>
          <a:xfrm>
            <a:off x="7680960" y="914400"/>
            <a:ext cx="914400" cy="274320"/>
          </a:xfrm>
          <a:prstGeom prst="roundRect">
            <a:avLst>
              <a:gd name="adj" fmla="val 26667"/>
            </a:avLst>
          </a:prstGeom>
          <a:solidFill>
            <a:srgbClr val="C62828"/>
          </a:solidFill>
          <a:ln w="12700">
            <a:solidFill>
              <a:srgbClr val="2E8B57"/>
            </a:solidFill>
            <a:prstDash val="solid"/>
          </a:ln>
        </p:spPr>
      </p:sp>
      <p:sp>
        <p:nvSpPr>
          <p:cNvPr id="13" name="Text 11"/>
          <p:cNvSpPr/>
          <p:nvPr/>
        </p:nvSpPr>
        <p:spPr>
          <a:xfrm>
            <a:off x="7680960" y="91440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High</a:t>
            </a:r>
            <a:endParaRPr lang="en-US" sz="850" dirty="0"/>
          </a:p>
        </p:txBody>
      </p:sp>
      <p:sp>
        <p:nvSpPr>
          <p:cNvPr id="14" name="Shape 12"/>
          <p:cNvSpPr/>
          <p:nvPr/>
        </p:nvSpPr>
        <p:spPr>
          <a:xfrm>
            <a:off x="274320" y="2743200"/>
            <a:ext cx="411480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5" name="Text 13"/>
          <p:cNvSpPr/>
          <p:nvPr/>
        </p:nvSpPr>
        <p:spPr>
          <a:xfrm>
            <a:off x="411480" y="2834640"/>
            <a:ext cx="3749040" cy="320040"/>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  Report Dependency</a:t>
            </a:r>
            <a:endParaRPr lang="en-US" sz="1200" dirty="0"/>
          </a:p>
        </p:txBody>
      </p:sp>
      <p:sp>
        <p:nvSpPr>
          <p:cNvPr id="16" name="Text 14"/>
          <p:cNvSpPr/>
          <p:nvPr/>
        </p:nvSpPr>
        <p:spPr>
          <a:xfrm>
            <a:off x="411480" y="3182112"/>
            <a:ext cx="3749040" cy="91440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At inference without a clinical report, model degrades to vision-only performance (Dice ≈ 0.92–0.94).</a:t>
            </a:r>
            <a:endParaRPr lang="en-US" sz="1100" dirty="0"/>
          </a:p>
        </p:txBody>
      </p:sp>
      <p:sp>
        <p:nvSpPr>
          <p:cNvPr id="17" name="Shape 15"/>
          <p:cNvSpPr/>
          <p:nvPr/>
        </p:nvSpPr>
        <p:spPr>
          <a:xfrm>
            <a:off x="3291840" y="2834640"/>
            <a:ext cx="914400" cy="274320"/>
          </a:xfrm>
          <a:prstGeom prst="roundRect">
            <a:avLst>
              <a:gd name="adj" fmla="val 26667"/>
            </a:avLst>
          </a:prstGeom>
          <a:solidFill>
            <a:srgbClr val="2E8B57"/>
          </a:solidFill>
          <a:ln w="12700">
            <a:solidFill>
              <a:srgbClr val="2E8B57"/>
            </a:solidFill>
            <a:prstDash val="solid"/>
          </a:ln>
        </p:spPr>
      </p:sp>
      <p:sp>
        <p:nvSpPr>
          <p:cNvPr id="18" name="Text 16"/>
          <p:cNvSpPr/>
          <p:nvPr/>
        </p:nvSpPr>
        <p:spPr>
          <a:xfrm>
            <a:off x="3291840" y="283464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Moderate</a:t>
            </a:r>
            <a:endParaRPr lang="en-US" sz="850" dirty="0"/>
          </a:p>
        </p:txBody>
      </p:sp>
      <p:sp>
        <p:nvSpPr>
          <p:cNvPr id="19" name="Shape 17"/>
          <p:cNvSpPr/>
          <p:nvPr/>
        </p:nvSpPr>
        <p:spPr>
          <a:xfrm>
            <a:off x="4663440" y="2743200"/>
            <a:ext cx="4114800" cy="1691640"/>
          </a:xfrm>
          <a:prstGeom prst="roundRect">
            <a:avLst>
              <a:gd name="adj" fmla="val 5405"/>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0" name="Text 18"/>
          <p:cNvSpPr/>
          <p:nvPr/>
        </p:nvSpPr>
        <p:spPr>
          <a:xfrm>
            <a:off x="4800600" y="2834640"/>
            <a:ext cx="3749040" cy="320040"/>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  Inference Speed</a:t>
            </a:r>
            <a:endParaRPr lang="en-US" sz="1200" dirty="0"/>
          </a:p>
        </p:txBody>
      </p:sp>
      <p:sp>
        <p:nvSpPr>
          <p:cNvPr id="21" name="Text 19"/>
          <p:cNvSpPr/>
          <p:nvPr/>
        </p:nvSpPr>
        <p:spPr>
          <a:xfrm>
            <a:off x="4800600" y="3182112"/>
            <a:ext cx="3749040" cy="914400"/>
          </a:xfrm>
          <a:prstGeom prst="rect">
            <a:avLst/>
          </a:prstGeom>
          <a:noFill/>
          <a:ln/>
        </p:spPr>
        <p:txBody>
          <a:bodyPr wrap="square" rtlCol="0" anchor="ctr"/>
          <a:lstStyle/>
          <a:p>
            <a:pPr indent="0" marL="0">
              <a:buNone/>
            </a:pPr>
            <a:r>
              <a:rPr lang="en-US" sz="1100" dirty="0">
                <a:solidFill>
                  <a:srgbClr val="1C1C1C"/>
                </a:solidFill>
                <a:latin typeface="Calibri" pitchFamily="34" charset="0"/>
                <a:ea typeface="Calibri" pitchFamily="34" charset="-122"/>
                <a:cs typeface="Calibri" pitchFamily="34" charset="-120"/>
              </a:rPr>
              <a:t>Dual encoder + dual decoder is 3–4× slower than standalone UNet. Real-time deployment is challenging.</a:t>
            </a:r>
            <a:endParaRPr lang="en-US" sz="1100" dirty="0"/>
          </a:p>
        </p:txBody>
      </p:sp>
      <p:sp>
        <p:nvSpPr>
          <p:cNvPr id="22" name="Shape 20"/>
          <p:cNvSpPr/>
          <p:nvPr/>
        </p:nvSpPr>
        <p:spPr>
          <a:xfrm>
            <a:off x="7680960" y="2834640"/>
            <a:ext cx="914400" cy="274320"/>
          </a:xfrm>
          <a:prstGeom prst="roundRect">
            <a:avLst>
              <a:gd name="adj" fmla="val 26667"/>
            </a:avLst>
          </a:prstGeom>
          <a:solidFill>
            <a:srgbClr val="2E8B57"/>
          </a:solidFill>
          <a:ln w="12700">
            <a:solidFill>
              <a:srgbClr val="2E8B57"/>
            </a:solidFill>
            <a:prstDash val="solid"/>
          </a:ln>
        </p:spPr>
      </p:sp>
      <p:sp>
        <p:nvSpPr>
          <p:cNvPr id="23" name="Text 21"/>
          <p:cNvSpPr/>
          <p:nvPr/>
        </p:nvSpPr>
        <p:spPr>
          <a:xfrm>
            <a:off x="7680960" y="2834640"/>
            <a:ext cx="91440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Moderate</a:t>
            </a:r>
            <a:endParaRPr lang="en-US" sz="850" dirty="0"/>
          </a:p>
        </p:txBody>
      </p:sp>
      <p:sp>
        <p:nvSpPr>
          <p:cNvPr id="24" name="Shape 22"/>
          <p:cNvSpPr/>
          <p:nvPr/>
        </p:nvSpPr>
        <p:spPr>
          <a:xfrm>
            <a:off x="274320" y="4498848"/>
            <a:ext cx="8595360" cy="548640"/>
          </a:xfrm>
          <a:prstGeom prst="roundRect">
            <a:avLst>
              <a:gd name="adj" fmla="val 16667"/>
            </a:avLst>
          </a:prstGeom>
          <a:solidFill>
            <a:srgbClr val="E8F5E9"/>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5" name="Text 23"/>
          <p:cNvSpPr/>
          <p:nvPr/>
        </p:nvSpPr>
        <p:spPr>
          <a:xfrm>
            <a:off x="457200" y="4544568"/>
            <a:ext cx="8229600" cy="457200"/>
          </a:xfrm>
          <a:prstGeom prst="rect">
            <a:avLst/>
          </a:prstGeom>
          <a:noFill/>
          <a:ln/>
        </p:spPr>
        <p:txBody>
          <a:bodyPr wrap="square" rtlCol="0" anchor="ctr"/>
          <a:lstStyle/>
          <a:p>
            <a:pPr algn="ctr" indent="0" marL="0">
              <a:buNone/>
            </a:pPr>
            <a:r>
              <a:rPr lang="en-US" sz="1100" i="1" dirty="0">
                <a:solidFill>
                  <a:srgbClr val="4A6741"/>
                </a:solidFill>
                <a:latin typeface="Calibri" pitchFamily="34" charset="0"/>
                <a:ea typeface="Calibri" pitchFamily="34" charset="-122"/>
                <a:cs typeface="Calibri" pitchFamily="34" charset="-120"/>
              </a:rPr>
              <a:t>Key Assumptions: FLAIR modality alone sufficient for whole tumor · Reports treated as ground-truth clinical descriptions · 2D slice independence assumed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4EDD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algn="l" indent="0" marL="0">
              <a:buNone/>
            </a:pPr>
            <a:r>
              <a:rPr lang="en-US" sz="2200" b="1" dirty="0">
                <a:solidFill>
                  <a:srgbClr val="1A6B3C"/>
                </a:solidFill>
                <a:latin typeface="Calibri" pitchFamily="34" charset="0"/>
                <a:ea typeface="Calibri" pitchFamily="34" charset="-122"/>
                <a:cs typeface="Calibri" pitchFamily="34" charset="-120"/>
              </a:rPr>
              <a:t>Future Work &amp; Roadmap</a:t>
            </a:r>
            <a:endParaRPr lang="en-US" sz="2200" dirty="0"/>
          </a:p>
        </p:txBody>
      </p:sp>
      <p:sp>
        <p:nvSpPr>
          <p:cNvPr id="3" name="Shape 1"/>
          <p:cNvSpPr/>
          <p:nvPr/>
        </p:nvSpPr>
        <p:spPr>
          <a:xfrm>
            <a:off x="365760" y="694944"/>
            <a:ext cx="8412480" cy="27432"/>
          </a:xfrm>
          <a:prstGeom prst="rect">
            <a:avLst/>
          </a:prstGeom>
          <a:solidFill>
            <a:srgbClr val="2E8B57"/>
          </a:solidFill>
          <a:ln w="12700">
            <a:solidFill>
              <a:srgbClr val="2E8B57"/>
            </a:solidFill>
            <a:prstDash val="solid"/>
          </a:ln>
        </p:spPr>
      </p:sp>
      <p:sp>
        <p:nvSpPr>
          <p:cNvPr id="4" name="Shape 2"/>
          <p:cNvSpPr/>
          <p:nvPr/>
        </p:nvSpPr>
        <p:spPr>
          <a:xfrm>
            <a:off x="274320" y="822960"/>
            <a:ext cx="4114800" cy="1261872"/>
          </a:xfrm>
          <a:prstGeom prst="roundRect">
            <a:avLst>
              <a:gd name="adj" fmla="val 724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384048" y="932688"/>
            <a:ext cx="411480" cy="411480"/>
          </a:xfrm>
          <a:prstGeom prst="ellipse">
            <a:avLst/>
          </a:prstGeom>
          <a:solidFill>
            <a:srgbClr val="1A6B3C"/>
          </a:solidFill>
          <a:ln w="12700">
            <a:solidFill>
              <a:srgbClr val="1A6B3C"/>
            </a:solidFill>
            <a:prstDash val="solid"/>
          </a:ln>
        </p:spPr>
      </p:sp>
      <p:sp>
        <p:nvSpPr>
          <p:cNvPr id="6" name="Text 4"/>
          <p:cNvSpPr/>
          <p:nvPr/>
        </p:nvSpPr>
        <p:spPr>
          <a:xfrm>
            <a:off x="384048" y="93268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868680" y="932688"/>
            <a:ext cx="3337560" cy="347472"/>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3D Extension</a:t>
            </a:r>
            <a:endParaRPr lang="en-US" sz="1200" dirty="0"/>
          </a:p>
        </p:txBody>
      </p:sp>
      <p:sp>
        <p:nvSpPr>
          <p:cNvPr id="8" name="Text 6"/>
          <p:cNvSpPr/>
          <p:nvPr/>
        </p:nvSpPr>
        <p:spPr>
          <a:xfrm>
            <a:off x="411480" y="1335024"/>
            <a:ext cx="3840480" cy="6858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Replace 2D UNet with 3D UNet or Swin-UNETR to process entire volumes, capturing inter-slice tumor continuity for more accurate volume estimation.</a:t>
            </a:r>
            <a:endParaRPr lang="en-US" sz="1050" dirty="0"/>
          </a:p>
        </p:txBody>
      </p:sp>
      <p:sp>
        <p:nvSpPr>
          <p:cNvPr id="9" name="Shape 7"/>
          <p:cNvSpPr/>
          <p:nvPr/>
        </p:nvSpPr>
        <p:spPr>
          <a:xfrm>
            <a:off x="4663440" y="822960"/>
            <a:ext cx="4114800" cy="1261872"/>
          </a:xfrm>
          <a:prstGeom prst="roundRect">
            <a:avLst>
              <a:gd name="adj" fmla="val 724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4773168" y="932688"/>
            <a:ext cx="411480" cy="411480"/>
          </a:xfrm>
          <a:prstGeom prst="ellipse">
            <a:avLst/>
          </a:prstGeom>
          <a:solidFill>
            <a:srgbClr val="1A6B3C"/>
          </a:solidFill>
          <a:ln w="12700">
            <a:solidFill>
              <a:srgbClr val="1A6B3C"/>
            </a:solidFill>
            <a:prstDash val="solid"/>
          </a:ln>
        </p:spPr>
      </p:sp>
      <p:sp>
        <p:nvSpPr>
          <p:cNvPr id="11" name="Text 9"/>
          <p:cNvSpPr/>
          <p:nvPr/>
        </p:nvSpPr>
        <p:spPr>
          <a:xfrm>
            <a:off x="4773168" y="93268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5257800" y="932688"/>
            <a:ext cx="3337560" cy="347472"/>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Multi-Modal Fusion</a:t>
            </a:r>
            <a:endParaRPr lang="en-US" sz="1200" dirty="0"/>
          </a:p>
        </p:txBody>
      </p:sp>
      <p:sp>
        <p:nvSpPr>
          <p:cNvPr id="13" name="Text 11"/>
          <p:cNvSpPr/>
          <p:nvPr/>
        </p:nvSpPr>
        <p:spPr>
          <a:xfrm>
            <a:off x="4800600" y="1335024"/>
            <a:ext cx="3840480" cy="6858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Incorporate all four BraTS modalities (T1, T1ce, T2, FLAIR) as separate input channels for sub-region segmentation (ET, ED, NCR/NET).</a:t>
            </a:r>
            <a:endParaRPr lang="en-US" sz="1050" dirty="0"/>
          </a:p>
        </p:txBody>
      </p:sp>
      <p:sp>
        <p:nvSpPr>
          <p:cNvPr id="14" name="Shape 12"/>
          <p:cNvSpPr/>
          <p:nvPr/>
        </p:nvSpPr>
        <p:spPr>
          <a:xfrm>
            <a:off x="274320" y="2240280"/>
            <a:ext cx="4114800" cy="1261872"/>
          </a:xfrm>
          <a:prstGeom prst="roundRect">
            <a:avLst>
              <a:gd name="adj" fmla="val 724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15" name="Shape 13"/>
          <p:cNvSpPr/>
          <p:nvPr/>
        </p:nvSpPr>
        <p:spPr>
          <a:xfrm>
            <a:off x="384048" y="2350008"/>
            <a:ext cx="411480" cy="411480"/>
          </a:xfrm>
          <a:prstGeom prst="ellipse">
            <a:avLst/>
          </a:prstGeom>
          <a:solidFill>
            <a:srgbClr val="1A6B3C"/>
          </a:solidFill>
          <a:ln w="12700">
            <a:solidFill>
              <a:srgbClr val="1A6B3C"/>
            </a:solidFill>
            <a:prstDash val="solid"/>
          </a:ln>
        </p:spPr>
      </p:sp>
      <p:sp>
        <p:nvSpPr>
          <p:cNvPr id="16" name="Text 14"/>
          <p:cNvSpPr/>
          <p:nvPr/>
        </p:nvSpPr>
        <p:spPr>
          <a:xfrm>
            <a:off x="384048" y="235000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868680" y="2350008"/>
            <a:ext cx="3337560" cy="347472"/>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Zero-Shot Text Inference</a:t>
            </a:r>
            <a:endParaRPr lang="en-US" sz="1200" dirty="0"/>
          </a:p>
        </p:txBody>
      </p:sp>
      <p:sp>
        <p:nvSpPr>
          <p:cNvPr id="18" name="Text 16"/>
          <p:cNvSpPr/>
          <p:nvPr/>
        </p:nvSpPr>
        <p:spPr>
          <a:xfrm>
            <a:off x="411480" y="2752344"/>
            <a:ext cx="3840480" cy="6858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Train model to operate without actual clinical text by using report embeddings as latent prompts — removing the runtime text dependency.</a:t>
            </a:r>
            <a:endParaRPr lang="en-US" sz="1050" dirty="0"/>
          </a:p>
        </p:txBody>
      </p:sp>
      <p:sp>
        <p:nvSpPr>
          <p:cNvPr id="19" name="Shape 17"/>
          <p:cNvSpPr/>
          <p:nvPr/>
        </p:nvSpPr>
        <p:spPr>
          <a:xfrm>
            <a:off x="4663440" y="2240280"/>
            <a:ext cx="4114800" cy="1261872"/>
          </a:xfrm>
          <a:prstGeom prst="roundRect">
            <a:avLst>
              <a:gd name="adj" fmla="val 724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4773168" y="2350008"/>
            <a:ext cx="411480" cy="411480"/>
          </a:xfrm>
          <a:prstGeom prst="ellipse">
            <a:avLst/>
          </a:prstGeom>
          <a:solidFill>
            <a:srgbClr val="1A6B3C"/>
          </a:solidFill>
          <a:ln w="12700">
            <a:solidFill>
              <a:srgbClr val="1A6B3C"/>
            </a:solidFill>
            <a:prstDash val="solid"/>
          </a:ln>
        </p:spPr>
      </p:sp>
      <p:sp>
        <p:nvSpPr>
          <p:cNvPr id="21" name="Text 19"/>
          <p:cNvSpPr/>
          <p:nvPr/>
        </p:nvSpPr>
        <p:spPr>
          <a:xfrm>
            <a:off x="4773168" y="235000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5257800" y="2350008"/>
            <a:ext cx="3337560" cy="347472"/>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Large-Scale Validation</a:t>
            </a:r>
            <a:endParaRPr lang="en-US" sz="1200" dirty="0"/>
          </a:p>
        </p:txBody>
      </p:sp>
      <p:sp>
        <p:nvSpPr>
          <p:cNvPr id="23" name="Text 21"/>
          <p:cNvSpPr/>
          <p:nvPr/>
        </p:nvSpPr>
        <p:spPr>
          <a:xfrm>
            <a:off x="4800600" y="2752344"/>
            <a:ext cx="3840480" cy="6858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Validate on multi-centre external datasets (TCIA, UCSF-PDGM) to rigorously assess generalisability across scanners and protocols.</a:t>
            </a:r>
            <a:endParaRPr lang="en-US" sz="1050" dirty="0"/>
          </a:p>
        </p:txBody>
      </p:sp>
      <p:sp>
        <p:nvSpPr>
          <p:cNvPr id="24" name="Shape 22"/>
          <p:cNvSpPr/>
          <p:nvPr/>
        </p:nvSpPr>
        <p:spPr>
          <a:xfrm>
            <a:off x="274320" y="3657600"/>
            <a:ext cx="4114800" cy="1261872"/>
          </a:xfrm>
          <a:prstGeom prst="roundRect">
            <a:avLst>
              <a:gd name="adj" fmla="val 724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384048" y="3767328"/>
            <a:ext cx="411480" cy="411480"/>
          </a:xfrm>
          <a:prstGeom prst="ellipse">
            <a:avLst/>
          </a:prstGeom>
          <a:solidFill>
            <a:srgbClr val="1A6B3C"/>
          </a:solidFill>
          <a:ln w="12700">
            <a:solidFill>
              <a:srgbClr val="1A6B3C"/>
            </a:solidFill>
            <a:prstDash val="solid"/>
          </a:ln>
        </p:spPr>
      </p:sp>
      <p:sp>
        <p:nvSpPr>
          <p:cNvPr id="26" name="Text 24"/>
          <p:cNvSpPr/>
          <p:nvPr/>
        </p:nvSpPr>
        <p:spPr>
          <a:xfrm>
            <a:off x="384048" y="376732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7" name="Text 25"/>
          <p:cNvSpPr/>
          <p:nvPr/>
        </p:nvSpPr>
        <p:spPr>
          <a:xfrm>
            <a:off x="868680" y="3767328"/>
            <a:ext cx="3337560" cy="347472"/>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Clinical Integration</a:t>
            </a:r>
            <a:endParaRPr lang="en-US" sz="1200" dirty="0"/>
          </a:p>
        </p:txBody>
      </p:sp>
      <p:sp>
        <p:nvSpPr>
          <p:cNvPr id="28" name="Text 26"/>
          <p:cNvSpPr/>
          <p:nvPr/>
        </p:nvSpPr>
        <p:spPr>
          <a:xfrm>
            <a:off x="411480" y="4169664"/>
            <a:ext cx="3840480" cy="6858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Develop PACS-compatible plugin reading structured reports from hospital information systems for real-time segmentation assistance.</a:t>
            </a:r>
            <a:endParaRPr lang="en-US" sz="1050" dirty="0"/>
          </a:p>
        </p:txBody>
      </p:sp>
      <p:sp>
        <p:nvSpPr>
          <p:cNvPr id="29" name="Shape 27"/>
          <p:cNvSpPr/>
          <p:nvPr/>
        </p:nvSpPr>
        <p:spPr>
          <a:xfrm>
            <a:off x="4663440" y="3657600"/>
            <a:ext cx="4114800" cy="1261872"/>
          </a:xfrm>
          <a:prstGeom prst="roundRect">
            <a:avLst>
              <a:gd name="adj" fmla="val 7246"/>
            </a:avLst>
          </a:prstGeom>
          <a:solidFill>
            <a:srgbClr val="EAF7EE"/>
          </a:solidFill>
          <a:ln w="12700">
            <a:solidFill>
              <a:srgbClr val="A8D5B5"/>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4773168" y="3767328"/>
            <a:ext cx="411480" cy="411480"/>
          </a:xfrm>
          <a:prstGeom prst="ellipse">
            <a:avLst/>
          </a:prstGeom>
          <a:solidFill>
            <a:srgbClr val="1A6B3C"/>
          </a:solidFill>
          <a:ln w="12700">
            <a:solidFill>
              <a:srgbClr val="1A6B3C"/>
            </a:solidFill>
            <a:prstDash val="solid"/>
          </a:ln>
        </p:spPr>
      </p:sp>
      <p:sp>
        <p:nvSpPr>
          <p:cNvPr id="31" name="Text 29"/>
          <p:cNvSpPr/>
          <p:nvPr/>
        </p:nvSpPr>
        <p:spPr>
          <a:xfrm>
            <a:off x="4773168" y="376732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5257800" y="3767328"/>
            <a:ext cx="3337560" cy="347472"/>
          </a:xfrm>
          <a:prstGeom prst="rect">
            <a:avLst/>
          </a:prstGeom>
          <a:noFill/>
          <a:ln/>
        </p:spPr>
        <p:txBody>
          <a:bodyPr wrap="square" rtlCol="0" anchor="ctr"/>
          <a:lstStyle/>
          <a:p>
            <a:pPr indent="0" marL="0">
              <a:buNone/>
            </a:pPr>
            <a:r>
              <a:rPr lang="en-US" sz="1200" b="1" dirty="0">
                <a:solidFill>
                  <a:srgbClr val="1A6B3C"/>
                </a:solidFill>
                <a:latin typeface="Calibri" pitchFamily="34" charset="0"/>
                <a:ea typeface="Calibri" pitchFamily="34" charset="-122"/>
                <a:cs typeface="Calibri" pitchFamily="34" charset="-120"/>
              </a:rPr>
              <a:t>Uncertainty Quantification</a:t>
            </a:r>
            <a:endParaRPr lang="en-US" sz="1200" dirty="0"/>
          </a:p>
        </p:txBody>
      </p:sp>
      <p:sp>
        <p:nvSpPr>
          <p:cNvPr id="33" name="Text 31"/>
          <p:cNvSpPr/>
          <p:nvPr/>
        </p:nvSpPr>
        <p:spPr>
          <a:xfrm>
            <a:off x="4800600" y="4169664"/>
            <a:ext cx="3840480" cy="685800"/>
          </a:xfrm>
          <a:prstGeom prst="rect">
            <a:avLst/>
          </a:prstGeom>
          <a:noFill/>
          <a:ln/>
        </p:spPr>
        <p:txBody>
          <a:bodyPr wrap="square" rtlCol="0" anchor="ctr"/>
          <a:lstStyle/>
          <a:p>
            <a:pPr indent="0" marL="0">
              <a:buNone/>
            </a:pPr>
            <a:r>
              <a:rPr lang="en-US" sz="1050" dirty="0">
                <a:solidFill>
                  <a:srgbClr val="1C1C1C"/>
                </a:solidFill>
                <a:latin typeface="Calibri" pitchFamily="34" charset="0"/>
                <a:ea typeface="Calibri" pitchFamily="34" charset="-122"/>
                <a:cs typeface="Calibri" pitchFamily="34" charset="-120"/>
              </a:rPr>
              <a:t>Integrate Monte Carlo dropout or deep ensembles to produce calibrated prediction uncertainty maps for clinical risk communication.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6B3C"/>
        </a:solidFill>
      </p:bgPr>
    </p:bg>
    <p:spTree>
      <p:nvGrpSpPr>
        <p:cNvPr id="1" name=""/>
        <p:cNvGrpSpPr/>
        <p:nvPr/>
      </p:nvGrpSpPr>
      <p:grpSpPr>
        <a:xfrm>
          <a:off x="0" y="0"/>
          <a:ext cx="0" cy="0"/>
          <a:chOff x="0" y="0"/>
          <a:chExt cx="0" cy="0"/>
        </a:xfrm>
      </p:grpSpPr>
      <p:sp>
        <p:nvSpPr>
          <p:cNvPr id="2" name="Shape 0"/>
          <p:cNvSpPr/>
          <p:nvPr/>
        </p:nvSpPr>
        <p:spPr>
          <a:xfrm>
            <a:off x="0" y="3931920"/>
            <a:ext cx="9144000" cy="1211580"/>
          </a:xfrm>
          <a:prstGeom prst="rect">
            <a:avLst/>
          </a:prstGeom>
          <a:solidFill>
            <a:srgbClr val="2E8B57"/>
          </a:solidFill>
          <a:ln w="12700">
            <a:solidFill>
              <a:srgbClr val="2E8B57"/>
            </a:solidFill>
            <a:prstDash val="solid"/>
          </a:ln>
        </p:spPr>
      </p:sp>
      <p:sp>
        <p:nvSpPr>
          <p:cNvPr id="3" name="Shape 1"/>
          <p:cNvSpPr/>
          <p:nvPr/>
        </p:nvSpPr>
        <p:spPr>
          <a:xfrm>
            <a:off x="6858000" y="-457200"/>
            <a:ext cx="3200400" cy="3200400"/>
          </a:xfrm>
          <a:prstGeom prst="ellipse">
            <a:avLst/>
          </a:prstGeom>
          <a:solidFill>
            <a:srgbClr val="2E7D32">
              <a:alpha val="40000"/>
            </a:srgbClr>
          </a:solidFill>
          <a:ln w="12700">
            <a:solidFill>
              <a:srgbClr val="2E7D32"/>
            </a:solidFill>
            <a:prstDash val="solid"/>
          </a:ln>
        </p:spPr>
      </p:sp>
      <p:sp>
        <p:nvSpPr>
          <p:cNvPr id="4" name="Text 2"/>
          <p:cNvSpPr/>
          <p:nvPr/>
        </p:nvSpPr>
        <p:spPr>
          <a:xfrm>
            <a:off x="457200" y="274320"/>
            <a:ext cx="8229600" cy="59436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5" name="Shape 3"/>
          <p:cNvSpPr/>
          <p:nvPr/>
        </p:nvSpPr>
        <p:spPr>
          <a:xfrm>
            <a:off x="274320" y="1005840"/>
            <a:ext cx="4206240" cy="1234440"/>
          </a:xfrm>
          <a:prstGeom prst="rect">
            <a:avLst/>
          </a:prstGeom>
          <a:solidFill>
            <a:srgbClr val="1E5C35"/>
          </a:solidFill>
          <a:ln w="12700">
            <a:solidFill>
              <a:srgbClr val="A8D5B5"/>
            </a:solidFill>
            <a:prstDash val="solid"/>
          </a:ln>
        </p:spPr>
      </p:sp>
      <p:sp>
        <p:nvSpPr>
          <p:cNvPr id="6" name="Shape 4"/>
          <p:cNvSpPr/>
          <p:nvPr/>
        </p:nvSpPr>
        <p:spPr>
          <a:xfrm>
            <a:off x="384048" y="1115568"/>
            <a:ext cx="411480" cy="411480"/>
          </a:xfrm>
          <a:prstGeom prst="ellipse">
            <a:avLst/>
          </a:prstGeom>
          <a:solidFill>
            <a:srgbClr val="4CAF50"/>
          </a:solidFill>
          <a:ln w="12700">
            <a:solidFill>
              <a:srgbClr val="4CAF50"/>
            </a:solidFill>
            <a:prstDash val="solid"/>
          </a:ln>
        </p:spPr>
      </p:sp>
      <p:sp>
        <p:nvSpPr>
          <p:cNvPr id="7" name="Text 5"/>
          <p:cNvSpPr/>
          <p:nvPr/>
        </p:nvSpPr>
        <p:spPr>
          <a:xfrm>
            <a:off x="384048" y="1115568"/>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868680" y="1115568"/>
            <a:ext cx="3474720" cy="347472"/>
          </a:xfrm>
          <a:prstGeom prst="rect">
            <a:avLst/>
          </a:prstGeom>
          <a:noFill/>
          <a:ln/>
        </p:spPr>
        <p:txBody>
          <a:bodyPr wrap="square" rtlCol="0" anchor="ctr"/>
          <a:lstStyle/>
          <a:p>
            <a:pPr indent="0" marL="0">
              <a:buNone/>
            </a:pPr>
            <a:r>
              <a:rPr lang="en-US" sz="1200" b="1" dirty="0">
                <a:solidFill>
                  <a:srgbClr val="A8D5B5"/>
                </a:solidFill>
                <a:latin typeface="Calibri" pitchFamily="34" charset="0"/>
                <a:ea typeface="Calibri" pitchFamily="34" charset="-122"/>
                <a:cs typeface="Calibri" pitchFamily="34" charset="-120"/>
              </a:rPr>
              <a:t>Superior Segmentation</a:t>
            </a:r>
            <a:endParaRPr lang="en-US" sz="1200" dirty="0"/>
          </a:p>
        </p:txBody>
      </p:sp>
      <p:sp>
        <p:nvSpPr>
          <p:cNvPr id="9" name="Text 7"/>
          <p:cNvSpPr/>
          <p:nvPr/>
        </p:nvSpPr>
        <p:spPr>
          <a:xfrm>
            <a:off x="411480" y="1508760"/>
            <a:ext cx="3931920" cy="658368"/>
          </a:xfrm>
          <a:prstGeom prst="rect">
            <a:avLst/>
          </a:prstGeom>
          <a:noFill/>
          <a:ln/>
        </p:spPr>
        <p:txBody>
          <a:bodyPr wrap="square" rtlCol="0" anchor="ctr"/>
          <a:lstStyle/>
          <a:p>
            <a:pPr indent="0" marL="0">
              <a:buNone/>
            </a:pPr>
            <a:r>
              <a:rPr lang="en-US" sz="1050" dirty="0">
                <a:solidFill>
                  <a:srgbClr val="D4EDDA"/>
                </a:solidFill>
                <a:latin typeface="Calibri" pitchFamily="34" charset="0"/>
                <a:ea typeface="Calibri" pitchFamily="34" charset="-122"/>
                <a:cs typeface="Calibri" pitchFamily="34" charset="-120"/>
              </a:rPr>
              <a:t>Dice = 0.9991 — a 5–7% improvement over unimodal UNet directly attributable to the linguistic prior.</a:t>
            </a:r>
            <a:endParaRPr lang="en-US" sz="1050" dirty="0"/>
          </a:p>
        </p:txBody>
      </p:sp>
      <p:sp>
        <p:nvSpPr>
          <p:cNvPr id="10" name="Shape 8"/>
          <p:cNvSpPr/>
          <p:nvPr/>
        </p:nvSpPr>
        <p:spPr>
          <a:xfrm>
            <a:off x="4709160" y="1005840"/>
            <a:ext cx="4206240" cy="1234440"/>
          </a:xfrm>
          <a:prstGeom prst="rect">
            <a:avLst/>
          </a:prstGeom>
          <a:solidFill>
            <a:srgbClr val="1E5C35"/>
          </a:solidFill>
          <a:ln w="12700">
            <a:solidFill>
              <a:srgbClr val="A8D5B5"/>
            </a:solidFill>
            <a:prstDash val="solid"/>
          </a:ln>
        </p:spPr>
      </p:sp>
      <p:sp>
        <p:nvSpPr>
          <p:cNvPr id="11" name="Shape 9"/>
          <p:cNvSpPr/>
          <p:nvPr/>
        </p:nvSpPr>
        <p:spPr>
          <a:xfrm>
            <a:off x="4818888" y="1115568"/>
            <a:ext cx="411480" cy="411480"/>
          </a:xfrm>
          <a:prstGeom prst="ellipse">
            <a:avLst/>
          </a:prstGeom>
          <a:solidFill>
            <a:srgbClr val="4CAF50"/>
          </a:solidFill>
          <a:ln w="12700">
            <a:solidFill>
              <a:srgbClr val="4CAF50"/>
            </a:solidFill>
            <a:prstDash val="solid"/>
          </a:ln>
        </p:spPr>
      </p:sp>
      <p:sp>
        <p:nvSpPr>
          <p:cNvPr id="12" name="Text 10"/>
          <p:cNvSpPr/>
          <p:nvPr/>
        </p:nvSpPr>
        <p:spPr>
          <a:xfrm>
            <a:off x="4818888" y="1115568"/>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303520" y="1115568"/>
            <a:ext cx="3474720" cy="347472"/>
          </a:xfrm>
          <a:prstGeom prst="rect">
            <a:avLst/>
          </a:prstGeom>
          <a:noFill/>
          <a:ln/>
        </p:spPr>
        <p:txBody>
          <a:bodyPr wrap="square" rtlCol="0" anchor="ctr"/>
          <a:lstStyle/>
          <a:p>
            <a:pPr indent="0" marL="0">
              <a:buNone/>
            </a:pPr>
            <a:r>
              <a:rPr lang="en-US" sz="1200" b="1" dirty="0">
                <a:solidFill>
                  <a:srgbClr val="A8D5B5"/>
                </a:solidFill>
                <a:latin typeface="Calibri" pitchFamily="34" charset="0"/>
                <a:ea typeface="Calibri" pitchFamily="34" charset="-122"/>
                <a:cs typeface="Calibri" pitchFamily="34" charset="-120"/>
              </a:rPr>
              <a:t>Competent Report Generation</a:t>
            </a:r>
            <a:endParaRPr lang="en-US" sz="1200" dirty="0"/>
          </a:p>
        </p:txBody>
      </p:sp>
      <p:sp>
        <p:nvSpPr>
          <p:cNvPr id="14" name="Text 12"/>
          <p:cNvSpPr/>
          <p:nvPr/>
        </p:nvSpPr>
        <p:spPr>
          <a:xfrm>
            <a:off x="4846320" y="1508760"/>
            <a:ext cx="3931920" cy="658368"/>
          </a:xfrm>
          <a:prstGeom prst="rect">
            <a:avLst/>
          </a:prstGeom>
          <a:noFill/>
          <a:ln/>
        </p:spPr>
        <p:txBody>
          <a:bodyPr wrap="square" rtlCol="0" anchor="ctr"/>
          <a:lstStyle/>
          <a:p>
            <a:pPr indent="0" marL="0">
              <a:buNone/>
            </a:pPr>
            <a:r>
              <a:rPr lang="en-US" sz="1050" dirty="0">
                <a:solidFill>
                  <a:srgbClr val="D4EDDA"/>
                </a:solidFill>
                <a:latin typeface="Calibri" pitchFamily="34" charset="0"/>
                <a:ea typeface="Calibri" pitchFamily="34" charset="-122"/>
                <a:cs typeface="Calibri" pitchFamily="34" charset="-120"/>
              </a:rPr>
              <a:t>ROUGE-1 = 0.5219, ROUGE-L = 0.4245 — captures majority of primary clinical findings automatically.</a:t>
            </a:r>
            <a:endParaRPr lang="en-US" sz="1050" dirty="0"/>
          </a:p>
        </p:txBody>
      </p:sp>
      <p:sp>
        <p:nvSpPr>
          <p:cNvPr id="15" name="Shape 13"/>
          <p:cNvSpPr/>
          <p:nvPr/>
        </p:nvSpPr>
        <p:spPr>
          <a:xfrm>
            <a:off x="274320" y="2423160"/>
            <a:ext cx="4206240" cy="1234440"/>
          </a:xfrm>
          <a:prstGeom prst="rect">
            <a:avLst/>
          </a:prstGeom>
          <a:solidFill>
            <a:srgbClr val="1E5C35"/>
          </a:solidFill>
          <a:ln w="12700">
            <a:solidFill>
              <a:srgbClr val="A8D5B5"/>
            </a:solidFill>
            <a:prstDash val="solid"/>
          </a:ln>
        </p:spPr>
      </p:sp>
      <p:sp>
        <p:nvSpPr>
          <p:cNvPr id="16" name="Shape 14"/>
          <p:cNvSpPr/>
          <p:nvPr/>
        </p:nvSpPr>
        <p:spPr>
          <a:xfrm>
            <a:off x="384048" y="2532888"/>
            <a:ext cx="411480" cy="411480"/>
          </a:xfrm>
          <a:prstGeom prst="ellipse">
            <a:avLst/>
          </a:prstGeom>
          <a:solidFill>
            <a:srgbClr val="4CAF50"/>
          </a:solidFill>
          <a:ln w="12700">
            <a:solidFill>
              <a:srgbClr val="4CAF50"/>
            </a:solidFill>
            <a:prstDash val="solid"/>
          </a:ln>
        </p:spPr>
      </p:sp>
      <p:sp>
        <p:nvSpPr>
          <p:cNvPr id="17" name="Text 15"/>
          <p:cNvSpPr/>
          <p:nvPr/>
        </p:nvSpPr>
        <p:spPr>
          <a:xfrm>
            <a:off x="384048" y="2532888"/>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68680" y="2532888"/>
            <a:ext cx="3474720" cy="347472"/>
          </a:xfrm>
          <a:prstGeom prst="rect">
            <a:avLst/>
          </a:prstGeom>
          <a:noFill/>
          <a:ln/>
        </p:spPr>
        <p:txBody>
          <a:bodyPr wrap="square" rtlCol="0" anchor="ctr"/>
          <a:lstStyle/>
          <a:p>
            <a:pPr indent="0" marL="0">
              <a:buNone/>
            </a:pPr>
            <a:r>
              <a:rPr lang="en-US" sz="1200" b="1" dirty="0">
                <a:solidFill>
                  <a:srgbClr val="A8D5B5"/>
                </a:solidFill>
                <a:latin typeface="Calibri" pitchFamily="34" charset="0"/>
                <a:ea typeface="Calibri" pitchFamily="34" charset="-122"/>
                <a:cs typeface="Calibri" pitchFamily="34" charset="-120"/>
              </a:rPr>
              <a:t>Cross-Modal Interpretability</a:t>
            </a:r>
            <a:endParaRPr lang="en-US" sz="1200" dirty="0"/>
          </a:p>
        </p:txBody>
      </p:sp>
      <p:sp>
        <p:nvSpPr>
          <p:cNvPr id="19" name="Text 17"/>
          <p:cNvSpPr/>
          <p:nvPr/>
        </p:nvSpPr>
        <p:spPr>
          <a:xfrm>
            <a:off x="411480" y="2926080"/>
            <a:ext cx="3931920" cy="658368"/>
          </a:xfrm>
          <a:prstGeom prst="rect">
            <a:avLst/>
          </a:prstGeom>
          <a:noFill/>
          <a:ln/>
        </p:spPr>
        <p:txBody>
          <a:bodyPr wrap="square" rtlCol="0" anchor="ctr"/>
          <a:lstStyle/>
          <a:p>
            <a:pPr indent="0" marL="0">
              <a:buNone/>
            </a:pPr>
            <a:r>
              <a:rPr lang="en-US" sz="1050" dirty="0">
                <a:solidFill>
                  <a:srgbClr val="D4EDDA"/>
                </a:solidFill>
                <a:latin typeface="Calibri" pitchFamily="34" charset="0"/>
                <a:ea typeface="Calibri" pitchFamily="34" charset="-122"/>
                <a:cs typeface="Calibri" pitchFamily="34" charset="-120"/>
              </a:rPr>
              <a:t>Attention heatmaps provide transparent insight into the model's decision-making — a step toward XAI in clinical oncology.</a:t>
            </a:r>
            <a:endParaRPr lang="en-US" sz="1050" dirty="0"/>
          </a:p>
        </p:txBody>
      </p:sp>
      <p:sp>
        <p:nvSpPr>
          <p:cNvPr id="20" name="Shape 18"/>
          <p:cNvSpPr/>
          <p:nvPr/>
        </p:nvSpPr>
        <p:spPr>
          <a:xfrm>
            <a:off x="4709160" y="2423160"/>
            <a:ext cx="4206240" cy="1234440"/>
          </a:xfrm>
          <a:prstGeom prst="rect">
            <a:avLst/>
          </a:prstGeom>
          <a:solidFill>
            <a:srgbClr val="1E5C35"/>
          </a:solidFill>
          <a:ln w="12700">
            <a:solidFill>
              <a:srgbClr val="A8D5B5"/>
            </a:solidFill>
            <a:prstDash val="solid"/>
          </a:ln>
        </p:spPr>
      </p:sp>
      <p:sp>
        <p:nvSpPr>
          <p:cNvPr id="21" name="Shape 19"/>
          <p:cNvSpPr/>
          <p:nvPr/>
        </p:nvSpPr>
        <p:spPr>
          <a:xfrm>
            <a:off x="4818888" y="2532888"/>
            <a:ext cx="411480" cy="411480"/>
          </a:xfrm>
          <a:prstGeom prst="ellipse">
            <a:avLst/>
          </a:prstGeom>
          <a:solidFill>
            <a:srgbClr val="4CAF50"/>
          </a:solidFill>
          <a:ln w="12700">
            <a:solidFill>
              <a:srgbClr val="4CAF50"/>
            </a:solidFill>
            <a:prstDash val="solid"/>
          </a:ln>
        </p:spPr>
      </p:sp>
      <p:sp>
        <p:nvSpPr>
          <p:cNvPr id="22" name="Text 20"/>
          <p:cNvSpPr/>
          <p:nvPr/>
        </p:nvSpPr>
        <p:spPr>
          <a:xfrm>
            <a:off x="4818888" y="2532888"/>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5303520" y="2532888"/>
            <a:ext cx="3474720" cy="347472"/>
          </a:xfrm>
          <a:prstGeom prst="rect">
            <a:avLst/>
          </a:prstGeom>
          <a:noFill/>
          <a:ln/>
        </p:spPr>
        <p:txBody>
          <a:bodyPr wrap="square" rtlCol="0" anchor="ctr"/>
          <a:lstStyle/>
          <a:p>
            <a:pPr indent="0" marL="0">
              <a:buNone/>
            </a:pPr>
            <a:r>
              <a:rPr lang="en-US" sz="1200" b="1" dirty="0">
                <a:solidFill>
                  <a:srgbClr val="A8D5B5"/>
                </a:solidFill>
                <a:latin typeface="Calibri" pitchFamily="34" charset="0"/>
                <a:ea typeface="Calibri" pitchFamily="34" charset="-122"/>
                <a:cs typeface="Calibri" pitchFamily="34" charset="-120"/>
              </a:rPr>
              <a:t>Multi-Task Stability</a:t>
            </a:r>
            <a:endParaRPr lang="en-US" sz="1200" dirty="0"/>
          </a:p>
        </p:txBody>
      </p:sp>
      <p:sp>
        <p:nvSpPr>
          <p:cNvPr id="24" name="Text 22"/>
          <p:cNvSpPr/>
          <p:nvPr/>
        </p:nvSpPr>
        <p:spPr>
          <a:xfrm>
            <a:off x="4846320" y="2926080"/>
            <a:ext cx="3931920" cy="658368"/>
          </a:xfrm>
          <a:prstGeom prst="rect">
            <a:avLst/>
          </a:prstGeom>
          <a:noFill/>
          <a:ln/>
        </p:spPr>
        <p:txBody>
          <a:bodyPr wrap="square" rtlCol="0" anchor="ctr"/>
          <a:lstStyle/>
          <a:p>
            <a:pPr indent="0" marL="0">
              <a:buNone/>
            </a:pPr>
            <a:r>
              <a:rPr lang="en-US" sz="1050" dirty="0">
                <a:solidFill>
                  <a:srgbClr val="D4EDDA"/>
                </a:solidFill>
                <a:latin typeface="Calibri" pitchFamily="34" charset="0"/>
                <a:ea typeface="Calibri" pitchFamily="34" charset="-122"/>
                <a:cs typeface="Calibri" pitchFamily="34" charset="-120"/>
              </a:rPr>
              <a:t>Composite loss (L_Seg + L_Gen + L_Align) with cosine annealing achieves stable convergence across both tasks simultaneously.</a:t>
            </a:r>
            <a:endParaRPr lang="en-US" sz="1050" dirty="0"/>
          </a:p>
        </p:txBody>
      </p:sp>
      <p:sp>
        <p:nvSpPr>
          <p:cNvPr id="25" name="Text 23"/>
          <p:cNvSpPr/>
          <p:nvPr/>
        </p:nvSpPr>
        <p:spPr>
          <a:xfrm>
            <a:off x="457200" y="4005072"/>
            <a:ext cx="8229600" cy="365760"/>
          </a:xfrm>
          <a:prstGeom prst="rect">
            <a:avLst/>
          </a:prstGeom>
          <a:noFill/>
          <a:ln/>
        </p:spPr>
        <p:txBody>
          <a:bodyPr wrap="square" rtlCol="0" anchor="ctr"/>
          <a:lstStyle/>
          <a:p>
            <a:pPr algn="ctr" indent="0" marL="0">
              <a:buNone/>
            </a:pPr>
            <a:r>
              <a:rPr lang="en-US" sz="1300" b="1" i="1" dirty="0">
                <a:solidFill>
                  <a:srgbClr val="FFFFFF"/>
                </a:solidFill>
                <a:latin typeface="Calibri" pitchFamily="34" charset="0"/>
                <a:ea typeface="Calibri" pitchFamily="34" charset="-122"/>
                <a:cs typeface="Calibri" pitchFamily="34" charset="-120"/>
              </a:rPr>
              <a:t>VLM-UNet: Where Clinical Language Meets Medical Vision</a:t>
            </a:r>
            <a:endParaRPr lang="en-US" sz="1300" dirty="0"/>
          </a:p>
        </p:txBody>
      </p:sp>
      <p:sp>
        <p:nvSpPr>
          <p:cNvPr id="26" name="Text 24"/>
          <p:cNvSpPr/>
          <p:nvPr/>
        </p:nvSpPr>
        <p:spPr>
          <a:xfrm>
            <a:off x="457200" y="4389120"/>
            <a:ext cx="8229600" cy="320040"/>
          </a:xfrm>
          <a:prstGeom prst="rect">
            <a:avLst/>
          </a:prstGeom>
          <a:noFill/>
          <a:ln/>
        </p:spPr>
        <p:txBody>
          <a:bodyPr wrap="square" rtlCol="0" anchor="ctr"/>
          <a:lstStyle/>
          <a:p>
            <a:pPr algn="ctr" indent="0" marL="0">
              <a:buNone/>
            </a:pPr>
            <a:r>
              <a:rPr lang="en-US" sz="1200" dirty="0">
                <a:solidFill>
                  <a:srgbClr val="A8D5B5"/>
                </a:solidFill>
                <a:latin typeface="Calibri" pitchFamily="34" charset="0"/>
                <a:ea typeface="Calibri" pitchFamily="34" charset="-122"/>
                <a:cs typeface="Calibri" pitchFamily="34" charset="-120"/>
              </a:rPr>
              <a:t>CS23I1034 – T. Sreekar          |          CS23I1001 – C. Sai Nithin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VLM-UNet: Brain Tumor Segmentation &amp; Report Synthesis</dc:title>
  <dc:subject>PptxGenJS Presentation</dc:subject>
  <dc:creator>PptxGenJS</dc:creator>
  <cp:lastModifiedBy>PptxGenJS</cp:lastModifiedBy>
  <cp:revision>1</cp:revision>
  <dcterms:created xsi:type="dcterms:W3CDTF">2026-05-14T11:10:46Z</dcterms:created>
  <dcterms:modified xsi:type="dcterms:W3CDTF">2026-05-14T11:10:46Z</dcterms:modified>
</cp:coreProperties>
</file>